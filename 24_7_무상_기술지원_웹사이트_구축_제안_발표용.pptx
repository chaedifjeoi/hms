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8" r:id="rId29"/>
    <p:sldId id="265" r:id="rId16"/>
    <p:sldId id="266" r:id="rId17"/>
    <p:sldId id="277" r:id="rId28"/>
    <p:sldId id="267" r:id="rId18"/>
    <p:sldId id="268" r:id="rId19"/>
    <p:sldId id="269" r:id="rId20"/>
    <p:sldId id="276" r:id="rId27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48640" cy="731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A00"/>
                </a:solidFill>
                <a:latin typeface="Malgun Gothic"/>
              </a:rPr>
              <a:t>EXECUTIVE PROPOSAL · 2026.04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24/7 무상 기술 지원을 위한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웹사이트 구축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기존 서비스 선주부터 시작하는 단계형 OEM 포털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2D9"/>
                </a:solidFill>
                <a:latin typeface="Malgun Gothic"/>
              </a:rPr>
              <a:t>오아시스의 교훈 · OEM Lock-in · 24/7 대응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0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HD현대마린솔루션테크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2636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7A00"/>
                </a:solidFill>
                <a:latin typeface="Malgun Gothic"/>
              </a:rPr>
              <a:t>2026. 04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한 장으로 보는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2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77724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핵심 명제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Malgun Gothic"/>
              </a:rPr>
              <a:t>선주는 "새 사이트"에 오는 게 아니라, "원래 하던 기술 문의"를 "가장 편한 창구"에서 처리할 뿐.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377440"/>
          <a:ext cx="1124711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169"/>
                <a:gridCol w="9218950"/>
              </a:tblGrid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002B5C"/>
                          </a:solidFill>
                          <a:latin typeface="Malgun Gothic"/>
                        </a:rPr>
                        <a:t>대상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HD현대 건조선 AS 선주 + HMS 기존 서비스 선주 (약 9,890척 기반 기존 고객)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002B5C"/>
                          </a:solidFill>
                          <a:latin typeface="Malgun Gothic"/>
                        </a:rPr>
                        <a:t>초기 서비스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24/7 실시간 기술 채팅 · FAQ · 선박별 케이스/이력 · 경보 연동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002B5C"/>
                          </a:solidFill>
                          <a:latin typeface="Malgun Gothic"/>
                        </a:rPr>
                        <a:t>24/7 구성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HMS 해외지사 Follow-the-Sun + 4-Tier 응답 구조 (자동→당번→전문가→본사)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002B5C"/>
                          </a:solidFill>
                          <a:latin typeface="Malgun Gothic"/>
                        </a:rPr>
                        <a:t>유상 전환 범위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원격 진단 · 부품 · 엔지니어 파견 (기존 LCA·AS 계약 구조 활용)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002B5C"/>
                          </a:solidFill>
                          <a:latin typeface="Malgun Gothic"/>
                        </a:rPr>
                        <a:t>오아시스와의 차이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중개 플랫폼 ❌ / OEM 직통 기술지원 ⭕ — 본업 연장선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002B5C"/>
                          </a:solidFill>
                          <a:latin typeface="Malgun Gothic"/>
                        </a:rPr>
                        <a:t>선주 유입 방식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신규 유입 아님 — 이미 메일로 하던 문의를 웹으로 "자연 이동"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1675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</a:rPr>
              <a:t>무상으로 접근성 확보 → 사용 경험으로 신뢰 → 선사 회계 가능한 영역만 유상 전환  |  단계형(Stage-based) OEM 포털 모델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본 발표가 답할 6개 질문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3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73152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Q1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554480"/>
            <a:ext cx="8778240" cy="59436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554480"/>
            <a:ext cx="8595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algun Gothic"/>
              </a:rPr>
              <a:t>대상은 누구인가?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0" y="1554480"/>
            <a:ext cx="1554480" cy="5943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155448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서론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67712"/>
            <a:ext cx="73152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67712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Q2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267712"/>
            <a:ext cx="8778240" cy="59436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267712"/>
            <a:ext cx="8595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algun Gothic"/>
              </a:rPr>
              <a:t>오아시스가 망했는데도 또 웹사이트를 만드는 타당한 근거는?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9840" y="2267712"/>
            <a:ext cx="1554480" cy="5943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2267712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본론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80944"/>
            <a:ext cx="73152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80944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Q3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2980944"/>
            <a:ext cx="8778240" cy="59436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2980944"/>
            <a:ext cx="8595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algun Gothic"/>
              </a:rPr>
              <a:t>24/7은 정확히 어떻게 구현하는가?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2980944"/>
            <a:ext cx="1554480" cy="5943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980944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본론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94176"/>
            <a:ext cx="73152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94176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Q4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3694176"/>
            <a:ext cx="8778240" cy="59436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3694176"/>
            <a:ext cx="8595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algun Gothic"/>
              </a:rPr>
              <a:t>선주가 굳이 우리 웹에 올 이유는?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3694176"/>
            <a:ext cx="1554480" cy="5943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3694176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본론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07408"/>
            <a:ext cx="73152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407408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Q5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0160" y="4407408"/>
            <a:ext cx="8778240" cy="59436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63040" y="4407408"/>
            <a:ext cx="8595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algun Gothic"/>
              </a:rPr>
              <a:t>오아시스와 똑같은 "선주 미방문" 문제를 어떻게 피하는가?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49840" y="4407408"/>
            <a:ext cx="1554480" cy="5943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4407408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본론 1·4 연계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120640"/>
            <a:ext cx="73152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12064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Q6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5120640"/>
            <a:ext cx="8778240" cy="59436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63040" y="5120640"/>
            <a:ext cx="8595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algun Gothic"/>
              </a:rPr>
              <a:t>OEM 3사는 왜 선주가 "직접" 포털을 쓰는가? 우리와 뭐가 다른가?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40" y="5120640"/>
            <a:ext cx="1554480" cy="5943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512064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본론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서론 · Q1 — 대상은 누구인가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신규 시장 X · 이미 서비스 중인 선주 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4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00" cy="1920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7A00"/>
                </a:solidFill>
                <a:latin typeface="Malgun Gothic"/>
              </a:rPr>
              <a:t>대상 모집단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algun Gothic"/>
              </a:rPr>
              <a:t>약 9,890척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HD현대 건조선 + HMS AS 기존 고객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137160" cy="43891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5448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Malgun Gothic"/>
              </a:rPr>
              <a:t>신규 영업이 아님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554480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이미 메일·전화로 기술 문의를 주고받고 있는 선주가 대상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137160" cy="43891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05740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Malgun Gothic"/>
              </a:rPr>
              <a:t>이미 관계가 있음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057400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인도 시점부터 AS 계약·보증·정비로 이어진 장기 관계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560320"/>
            <a:ext cx="137160" cy="43891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56032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Malgun Gothic"/>
              </a:rPr>
              <a:t>문제는 창구 효율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560320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관계는 있으나 메일·전화에 산재 — 비효율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063240"/>
            <a:ext cx="137160" cy="43891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06324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Malgun Gothic"/>
              </a:rPr>
              <a:t>Channel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063240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이미 오는 선주를 "더 편한 창구"로 자연 이동시키는 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11247120" cy="192024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본질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Malgun Gothic"/>
              </a:rPr>
              <a:t>선주 "유치"가 아니라 "이동(Channel Shift)"이 본질이다.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algun Gothic"/>
              </a:rPr>
              <a:t>메일함에 흩어진 문의를 웹으로 옮겨와 시스템화·자산화한다.
이 웹사이트의 목표는 "이미 오는 선주를 더 편하게 맞이하는 창구"가 되는 것이다.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본론 1 · Q2 — 오아시스의 교훈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실패의 구조적 원인 5가지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5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OASIS = HMS가 운영했던 B2B 선박 수리 서비스 중개 플랫폼 (선주↔수리업체 견적·보증·실시간 커뮤니케이션)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874519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7315200"/>
                <a:gridCol w="1188720"/>
              </a:tblGrid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실패 요인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상세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평가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방문 동기 저빈도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수리 견적 필요 시점 = 연 1~2회 — 일상 접점 없음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실패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본업 분리 구조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중개 계층 추가 — HMS 기술 전문성과 "수리 견적"은 다른 업무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실패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대체재 풍부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선주는 기존 수리업체와 메일·전화로 직접 처리 가능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실패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회계/수수료 마찰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바우처·수수료 정산이 선사 회계와 안 맞음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실패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공급 측 의존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수리업체 참여율 낮으면 양면시장 자체 붕괴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실패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28523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본질적 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오아시스의 핵심 문제 = "선주가 방문할 이유가 없었다"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2D9"/>
                </a:solidFill>
                <a:latin typeface="Malgun Gothic"/>
              </a:rPr>
              <a:t>본 제안도 같은 함정에 빠질 수 있다 — 어떻게 피할 것인가가 다음 슬라이드의 핵심.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본론 1 · Q2 — 그럼에도 "또 웹"인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오아시스 vs. 본 제안 — 본질적 6가지 차이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6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4114799"/>
                <a:gridCol w="5303520"/>
              </a:tblGrid>
              <a:tr h="5225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비교 항목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오아시스 (실패)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본 제안 (차별화)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정체성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B2B 수리 중개 마켓플레이스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OEM 기술지원 직통 창구 (본업 자체)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방문 빈도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수리 필요 시 (연 1~2회)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기술 문의 발생 시 (주 단위)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대체재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메일·전화로 수리업체 직접 접촉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HMS 엔지니어는 우리 창구로만 접근 — 대체재 없음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회계 구조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중개 수수료·바우처 = 선사 정산 복잡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무상 (정산 0원) / 유상은 기존 LCA·AS 계약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초기 트래픽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수리업체·선주 동시 유치 (양면시장)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이미 오는 선주를 "이동"시키면 됨 (단면시장)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실패 활용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오아시스 실패 자체가 사내 자산 — 설계에 역반영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한 줄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algun Gothic"/>
              </a:rPr>
              <a:t>오아시스 = 중개(marketplace) · 빈도 저 · 처음 만남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Malgun Gothic"/>
              </a:rPr>
              <a:t>본 제안 = 직통(OEM portal) · 빈도 고 · 이미 관계 있는 선주와 다시 만남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본론 2 · Q6 — OEM Lock-in 6요인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바르질라·콩스버그·ABB가 선주를 포털로 끌어오는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7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선주가 "0에서 1을 생성"하는 게 아니라 OEM이 먼저 감지·생성한 케이스에 "응답·확인"하는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3703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640080" cy="18288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640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7A00"/>
                </a:solidFill>
                <a:latin typeface="Malgun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057399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Malgun Gothic"/>
              </a:rPr>
              <a:t>OEM 독점 지식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60319"/>
            <a:ext cx="27889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이 장비의 답은 여기밖에 없다 — 결정적 진단·펌웨어는 OEM만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874519"/>
            <a:ext cx="3703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874519"/>
            <a:ext cx="640080" cy="18288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874519"/>
            <a:ext cx="640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7A00"/>
                </a:solidFill>
                <a:latin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57399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Malgun Gothic"/>
              </a:rPr>
              <a:t>선박 데이터 독점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560319"/>
            <a:ext cx="27889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K-IMS · Expert Insight — 배 상태 확인하려면 포털만이 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874519"/>
            <a:ext cx="3703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74519"/>
            <a:ext cx="640080" cy="18288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874519"/>
            <a:ext cx="640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7A00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057399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Malgun Gothic"/>
              </a:rPr>
              <a:t>계약 자동 편입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560319"/>
            <a:ext cx="27889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인도 계약에 포털 계정 기본 포함 — 가입 결정 자체가 없음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59"/>
            <a:ext cx="3703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94759"/>
            <a:ext cx="640080" cy="18288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94759"/>
            <a:ext cx="640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7A00"/>
                </a:solidFill>
                <a:latin typeface="Malgun Gothi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977639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Malgun Gothic"/>
              </a:rPr>
              <a:t>원격 제어·진단 독점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480559"/>
            <a:ext cx="27889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선박 제어시스템 원격 접속 권한은 OEM만 — 대체 불가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3794759"/>
            <a:ext cx="3703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794759"/>
            <a:ext cx="640080" cy="18288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3794759"/>
            <a:ext cx="640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7A00"/>
                </a:solidFill>
                <a:latin typeface="Malgun Gothic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977639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Malgun Gothic"/>
              </a:rPr>
              <a:t>LCA 의무화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480559"/>
            <a:ext cx="27889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Lifecycle Agreement 조건에 "포털 사용" 자체가 포함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794759"/>
            <a:ext cx="3703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3794759"/>
            <a:ext cx="640080" cy="18288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794759"/>
            <a:ext cx="640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7A00"/>
                </a:solidFill>
                <a:latin typeface="Malgun Gothic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3977639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Malgun Gothic"/>
              </a:rPr>
              <a:t>수수료 없음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4480559"/>
            <a:ext cx="27889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별도 청구 없음 — LCA·AS 계약가에 이미 포함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879592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오아시스에는 이 6가지가 모두 없었다 · 본 제안은 4~5개 요인을 이미 보유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본론 2 — HMS의 포지셔닝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OEM Lock-in 6요인 대비 HMS 현재 역량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8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6858000"/>
                <a:gridCol w="1645920"/>
              </a:tblGrid>
              <a:tr h="483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조건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현재 HMS 역량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Gap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독점 지식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HD현대 건조선·HMS 자체 기술 (배전반·통합 시스템)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양호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데이터 독점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Hi-4S · SmartCare 실시간 모니터링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양호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계약 자동 편입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AS 계약 존재하나 "포털 편입" 조항 부재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중간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원격 제어 권한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부분적 보유 (일부 선종·장비)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중간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LCA형 장기 계약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확장 중이나 OEM 3사 대비 낮음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수수료 없는 구조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무상 설계만 유지하면 즉시 충족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양호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120640"/>
            <a:ext cx="3657600" cy="128016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이미 보유 (1·2·6)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지식·데이터·무상 구조 — 즉시 활용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5120640"/>
            <a:ext cx="3657600" cy="128016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5212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함께 확보 (3·4)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53212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웹 구축과 함께 AS 계약 갱신 시 포털 편입 조항 + 원격 권한 명시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5120640"/>
            <a:ext cx="3657600" cy="12801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5212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중장기 확보 (5)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53212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Phase 3 유상 전환 시점에 LCA 계약 비중 자연 확대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본론 3 · Q3 — 24/7 응답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4단계 Tier — 자동이 먼저, 사람은 필요할 때만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9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"24시간 사람 대기"가 아니라 "어떤 질문이든 즉시 처리 경로로 들어가게 하는 것"이 핵심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78892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Tier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2788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7A00"/>
                </a:solidFill>
                <a:latin typeface="Malgun Gothic"/>
              </a:rPr>
              <a:t>응답 주체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2B5C"/>
                </a:solidFill>
                <a:latin typeface="Malgun Gothic"/>
              </a:rPr>
              <a:t>자동 봇
+ 지식베이스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19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7A00"/>
                </a:solidFill>
                <a:latin typeface="Malgun Gothic"/>
              </a:rPr>
              <a:t>대상 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2336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algun Gothic"/>
              </a:rPr>
              <a:t>단순 · FAQ
매뉴얼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2240280" cy="5943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0초 즉시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828800"/>
            <a:ext cx="278892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82880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Tier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2468880"/>
            <a:ext cx="2788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6060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7A00"/>
                </a:solidFill>
                <a:latin typeface="Malgun Gothic"/>
              </a:rPr>
              <a:t>응답 주체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88036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2B5C"/>
                </a:solidFill>
                <a:latin typeface="Malgun Gothic"/>
              </a:rPr>
              <a:t>당번 엔지니어
(해외지사)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703319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7A00"/>
                </a:solidFill>
                <a:latin typeface="Malgun Gothic"/>
              </a:rPr>
              <a:t>대상 질문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02336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algun Gothic"/>
              </a:rPr>
              <a:t>일반 기술 문의
케이스 접수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4754880"/>
            <a:ext cx="2240280" cy="5943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754880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15분 이내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828800"/>
            <a:ext cx="278892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82880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Tier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468880"/>
            <a:ext cx="2788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6060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7A00"/>
                </a:solidFill>
                <a:latin typeface="Malgun Gothic"/>
              </a:rPr>
              <a:t>응답 주체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88036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2B5C"/>
                </a:solidFill>
                <a:latin typeface="Malgun Gothic"/>
              </a:rPr>
              <a:t>도메인 전문가
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703319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7A00"/>
                </a:solidFill>
                <a:latin typeface="Malgun Gothic"/>
              </a:rPr>
              <a:t>대상 질문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02336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algun Gothic"/>
              </a:rPr>
              <a:t>전기·추진·제어
자동화·배전반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754880"/>
            <a:ext cx="2240280" cy="5943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754880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2시간 이내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1828800"/>
            <a:ext cx="278892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82880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Tier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2468880"/>
            <a:ext cx="2788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26060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7A00"/>
                </a:solidFill>
                <a:latin typeface="Malgun Gothic"/>
              </a:rPr>
              <a:t>응답 주체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88036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2B5C"/>
                </a:solidFill>
                <a:latin typeface="Malgun Gothic"/>
              </a:rPr>
              <a:t>본사 R&amp;D
엔지니어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703319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7A00"/>
                </a:solidFill>
                <a:latin typeface="Malgun Gothic"/>
              </a:rPr>
              <a:t>대상 질문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02336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algun Gothic"/>
              </a:rPr>
              <a:t>복잡 건·설계
안전 관련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4754880"/>
            <a:ext cx="2240280" cy="5943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4754880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24시간 영업시간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2B5C"/>
                </a:solidFill>
                <a:latin typeface="Malgun Gothic"/>
              </a:rPr>
              <a:t>모든 문의는 Tier 1부터 자동 접수·분류 → 필요할 때만 Tier 2~4로 에스컬레이션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algun Gothic"/>
              </a:rPr>
              <a:t>사람이 24시간 대기 부담 없이 선주 체감 응답은 24/7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본론 3 · Q3 — Follow-the-Sun + 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해외지사 정규 근무 시간대 교대 + 등급별 응답 약속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11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Malgun Gothic"/>
              </a:rPr>
              <a:t>Follow-the-Sun — 정규 근무자 교대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371600" cy="8686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7A00"/>
                </a:solidFill>
                <a:latin typeface="Malgun Gothic"/>
              </a:rPr>
              <a:t>00–08 UTC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79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아시아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874519"/>
            <a:ext cx="4297680" cy="86868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98424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Malgun Gothic"/>
              </a:rPr>
              <a:t>부산 / 싱가포르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33171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09–17 KST · 08–16 SGT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39"/>
            <a:ext cx="1371600" cy="8686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3463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7A00"/>
                </a:solidFill>
                <a:latin typeface="Malgun Gothic"/>
              </a:rPr>
              <a:t>08–16 UTC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00399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유럽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834639"/>
            <a:ext cx="4297680" cy="86868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294436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Malgun Gothic"/>
              </a:rPr>
              <a:t>아테네 / 로테르담 / 함부르크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9183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현지 09–17시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59"/>
            <a:ext cx="1371600" cy="8686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9475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7A00"/>
                </a:solidFill>
                <a:latin typeface="Malgun Gothic"/>
              </a:rPr>
              <a:t>16–24 UTC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60519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미주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794759"/>
            <a:ext cx="4297680" cy="86868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390448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Malgun Gothic"/>
              </a:rPr>
              <a:t>휴스턴 / 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5195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현지 09–17시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Malgun Gothic"/>
              </a:rPr>
              <a:t>등급별 SLA — 언제까지 답이 오는가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400800" y="1874519"/>
          <a:ext cx="530351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280159"/>
                <a:gridCol w="1325880"/>
                <a:gridCol w="132588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등급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최초 응답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1차 진단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해결 완료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긴급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15분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2시간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24시간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1시간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8시간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72시간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일반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4시간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24시간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1주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낮음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24시간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4937760"/>
            <a:ext cx="11247120" cy="1417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"24/7"을 만드는 4가지 시스템 — 신규 해외 센터 신설 불필요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4068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4-Tier 응답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064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2D9"/>
                </a:solidFill>
                <a:latin typeface="Malgun Gothic"/>
              </a:rPr>
              <a:t>자동→당번→전문가→본사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44068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Follow-the-Sun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8064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2D9"/>
                </a:solidFill>
                <a:latin typeface="Malgun Gothic"/>
              </a:rPr>
              <a:t>해외지사 정규 근무 교대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44068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디지털 핸드오프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8064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2D9"/>
                </a:solidFill>
                <a:latin typeface="Malgun Gothic"/>
              </a:rPr>
              <a:t>케이스 상태·타임라인·핸드오프 노트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44068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등급별 SLA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58064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2D9"/>
                </a:solidFill>
                <a:latin typeface="Malgun Gothic"/>
              </a:rPr>
              <a:t>긴급·높음·일반·낮음 명시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본론 4 · Q4 — 선주는 왜 이 웹에 오는가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기존 접점에 "웹 진입로"를 심는 6가지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12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"새 사이트에 오게 만들기"가 아니라 "원래 하던 일이 자연스럽게 웹에서 일어나게 하기"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548640" cy="1417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54864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11679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Malgun Gothic"/>
              </a:rPr>
              <a:t>AS 확인서·정비 보고서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23159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QR 코드 + 단축 URL 삽입 → 클릭 한 번에 케이스 화면 자동 열림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874519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874519"/>
            <a:ext cx="548640" cy="1417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874519"/>
            <a:ext cx="54864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011679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Malgun Gothic"/>
              </a:rPr>
              <a:t>Hi-4S / SmartCare 경보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423159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경보 이메일·SMS 안의 "바로 문의하기" 링크 → 케이스 초안 자동 채워짐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874519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74519"/>
            <a:ext cx="548640" cy="1417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874519"/>
            <a:ext cx="54864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011679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Malgun Gothic"/>
              </a:rPr>
              <a:t>기존 메일 회신 병행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423159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포털 케이스가 메일로도 발송 — 메일 회신 시 웹에 자동 반영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79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83279"/>
            <a:ext cx="548640" cy="1417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383279"/>
            <a:ext cx="54864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520439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Malgun Gothic"/>
              </a:rPr>
              <a:t>Single Sign-On (SSO)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931919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선주사 이메일로 원클릭 로그인 — 계정 생성 장벽 제거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3383279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383279"/>
            <a:ext cx="548640" cy="1417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3383279"/>
            <a:ext cx="54864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520439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Malgun Gothic"/>
              </a:rPr>
              <a:t>모바일 앱 + 푸시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931919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출장·회의 중 즉시 대응 · 사진·음성 메모로 문의 가능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383279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3383279"/>
            <a:ext cx="548640" cy="1417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383279"/>
            <a:ext cx="54864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520439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Malgun Gothic"/>
              </a:rPr>
              <a:t>선박 인도 온보딩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931919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신규 인도 패키지에 포털 계정 + 첫 로그인 가이드 기본 포함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Q5 — 오아시스의 미방문 문제를 어떻게 피하는가 (3가지 구조적 해법)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57784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Malgun Gothic"/>
              </a:rPr>
              <a:t>① 트리거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55778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수리 견적 (연 1~2회) → 일상 기술 문의 (주/월 단위) — 빈도 20~50배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852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Malgun Gothic"/>
              </a:rPr>
              <a:t>② 발원점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585216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선주가 "작성"하는 게 아니라 HMS가 먼저 시작 → 선주는 "응답"만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1264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Malgun Gothic"/>
              </a:rPr>
              <a:t>③ 강요 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612648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algun Gothic"/>
              </a:rPr>
              <a:t>메일 폐지 X — 메일·웹 공존, 단 웹이 더 편하게 설계 (자기 속도로 이동)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본론 5 — 메일과의 실질 차별점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"메일도 되는 걸 왜 웹으로?"에 대한 6가지 답변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14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1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4572000"/>
                <a:gridCol w="4572000"/>
              </a:tblGrid>
              <a:tr h="5617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메일 기반 (기존)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무상 웹사이트 (제안)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최초 응답 속도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영업시간 담당자 확인 후 회신 (4~12h)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24/7 자동 접수 → Tier 1 즉시 · Tier 2 15분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전문가 매칭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수신자가 "담당자에게 포워딩" (속도 편차)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내용 자동 분류 → 도메인 전문가 풀 자동 할당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이력 관리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PM 개인 메일함에 분산 — 재발 이슈 검색 불가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선박 단위 자동 축적 — 10초 만에 과거 이력 조회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긴급도 판단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메일 열고 읽어야 판단 가능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Hi-4S 경보·선박 데이터 기반 자동 우선순위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진행 가시성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"회신 언제?" 묻지 않으면 모름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실시간 상태 + SLA 카운트다운 자동 표시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지식 자산화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해결책이 메일에 갇힘 — 조직 자산화 X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해결 사례가 FAQ·지식베이스로 자동 환류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본질의 차이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메일 = 문의 도구  ·  웹 = 지식·관계 자산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결론 — 단계형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무상 시작 → 신뢰 형성 → 유상 전환 → 통합 포털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15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78892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2788920" cy="3657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0~6개월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278892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3347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2B5C"/>
                </a:solidFill>
                <a:latin typeface="Malgun Gothic"/>
              </a:rPr>
              <a:t>무상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Malgun Gothic"/>
              </a:rPr>
              <a:t>핵심 과업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기존 선주 10~20개사 Closed Beta
FAQ · 채팅 · 케이스 · 선박별 이력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Malgun Gothic"/>
              </a:rPr>
              <a:t>산출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최초 사용 경험 확보
오아시스 실패 지점 실측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554480"/>
            <a:ext cx="278892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554480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Phase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2148840"/>
            <a:ext cx="2788920" cy="3657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21488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6~12개월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514600"/>
            <a:ext cx="278892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63347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2B5C"/>
                </a:solidFill>
                <a:latin typeface="Malgun Gothic"/>
              </a:rPr>
              <a:t>24/7 확장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10896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Malgun Gothic"/>
              </a:rPr>
              <a:t>핵심 과업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33756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4-Tier + Follow-the-Sun 정식 운영
SLA 문서화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526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Malgun Gothic"/>
              </a:rPr>
              <a:t>산출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754880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15분 응답 SLA 달성
전 선주 확대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554480"/>
            <a:ext cx="278892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554480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Phase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148840"/>
            <a:ext cx="2788920" cy="3657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1488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1~2년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514600"/>
            <a:ext cx="278892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63347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2B5C"/>
                </a:solidFill>
                <a:latin typeface="Malgun Gothic"/>
              </a:rPr>
              <a:t>유상 서비스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10896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Malgun Gothic"/>
              </a:rPr>
              <a:t>핵심 과업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33756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원격 진단 · 부품 · 엔지니어 파견
기존 LCA·AS 계약 구조 활용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526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Malgun Gothic"/>
              </a:rPr>
              <a:t>산출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754880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유상 매출 전환율 측정
LCA 비중 확대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1554480"/>
            <a:ext cx="278892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1554480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Phase 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2148840"/>
            <a:ext cx="2788920" cy="3657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8280" y="21488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2년+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2514600"/>
            <a:ext cx="278892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263347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2B5C"/>
                </a:solidFill>
                <a:latin typeface="Malgun Gothic"/>
              </a:rPr>
              <a:t>통합 포털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10896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Malgun Gothic"/>
              </a:rPr>
              <a:t>핵심 과업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33756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계약·대시보드·예측정비·리포트
선주 단일 창구화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45262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Malgun Gothic"/>
              </a:rPr>
              <a:t>산출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754880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OEM 3사와 동일한
포털 포지션 확보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단 한 줄의 약속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Malgun Gothic"/>
              </a:rPr>
              <a:t>"메일을 열던 그 손이, 자연스럽게 우리 웹을 여는 순간을 만든다."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결론 — 핵심 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Before vs. After — 무상 웹 도입의 정량/정성 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16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80560"/>
                <a:gridCol w="448056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Before (현재)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After (무상 웹 도입 후)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최초 응답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영업시간 대기 (최대 12h+)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24/7 평균 15분 이내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문의 창구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이메일 · 전화 산재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웹 단일 + 이메일 병행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이력 자산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PM 개인 메일함에 산재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선박 단위 자산화 — 재발 즉시 조회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유상 전환 기반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없음 (계약은 별도 영업)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무상 사용자 풀 → 자연 전환 깔때기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오아시스 실패 리스크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재발 가능성 높음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6가지 차별화로 구조적 재발 방지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선주 PM 부담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회신·포워딩·이력 정리 매 건 수동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자동 라우팅·자동 이력 — 본업 집중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HMS 인력 부담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엔지니어 한 명이 전 영역 대응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Tier 분리 — 단순 자동·복잡만 전문가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002B5C"/>
                          </a:solidFill>
                          <a:latin typeface="Malgun Gothic"/>
                        </a:rPr>
                        <a:t>장기 관계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AS 종료 시 단절 가능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포털이 지속 접점 → LCA·추가 계약 확장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부록 A — 발표 시간 배분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총 10분 발표 기준 구간별 핵심 메시지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18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914400"/>
                <a:gridCol w="5943600"/>
                <a:gridCol w="1188720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구간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소요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핵심 메시지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대응 질문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Executive Summary + 서론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1.5분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대상은 기존 선주 · 6개 질문 선언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Q1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본론 1 — 오아시스의 교훈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1.7분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실패 5가지 + 본 제안과의 6가지 차별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Q2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본론 2 — OEM Lock-in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2.5분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6요인 + HMS가 같은 포지션에 설 조건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Q6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본론 3 — 24/7 구체 설계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1.5분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4-Tier + Follow-the-Sun + 핸드오프 + SLA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Q3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본론 4 — 선주 유입 전략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1.8분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6접점 + 오아시스 미방문 극복 3해법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Q4·Q5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본론 5 — 메일 대비 차별점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0.5분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메일이 못하는 6가지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보조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결론 — 로드맵 + 기대효과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1.5분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4-Phase + 마무리 한 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부록 B — 6개 질문, 1줄 답변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발표가 답한 6가지를 한 페이지에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19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77724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7A00"/>
                </a:solidFill>
                <a:latin typeface="Malgun Gothic"/>
              </a:rPr>
              <a:t>Q1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1554480"/>
            <a:ext cx="1828800" cy="64008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55448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Malgun Gothic"/>
              </a:rPr>
              <a:t>대상?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55448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이미 서비스 중인 선주 (HD현대 건조선 + HMS AS 기존 고객 약 9,890척)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77724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7A00"/>
                </a:solidFill>
                <a:latin typeface="Malgun Gothic"/>
              </a:rPr>
              <a:t>Q2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2331720"/>
            <a:ext cx="1828800" cy="64008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33172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Malgun Gothic"/>
              </a:rPr>
              <a:t>또 웹인가?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3172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오아시스 = B2B 중개 (실패 5요인) / 본 제안 = OEM 직통 (차별 6가지) — 본질이 다름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77724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7A00"/>
                </a:solidFill>
                <a:latin typeface="Malgun Gothic"/>
              </a:rPr>
              <a:t>Q3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3108960"/>
            <a:ext cx="1828800" cy="64008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10896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Malgun Gothic"/>
              </a:rPr>
              <a:t>24/7 어떻게?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10896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4-Tier 응답 + 해외지사 Follow-the-Sun + 디지털 핸드오프 + 등급별 SLA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77724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8620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7A00"/>
                </a:solidFill>
                <a:latin typeface="Malgun Gothic"/>
              </a:rPr>
              <a:t>Q4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3886200"/>
            <a:ext cx="1828800" cy="64008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3886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Malgun Gothic"/>
              </a:rPr>
              <a:t>선주가 왜 옴?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88620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신규 유입 X — 기존 6접점(AS 보고서·경보·메일·SSO·모바일·인도)에서 자연 유입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77724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66344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7A00"/>
                </a:solidFill>
                <a:latin typeface="Malgun Gothic"/>
              </a:rPr>
              <a:t>Q5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4663440"/>
            <a:ext cx="1828800" cy="64008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46634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Malgun Gothic"/>
              </a:rPr>
              <a:t>미방문 재발 방지?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66344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① 고빈도 트리거 ② HMS 발원형 흐름 ③ 메일 공존 — 3가지 구조적 해법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777240" cy="6400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44068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7A00"/>
                </a:solidFill>
                <a:latin typeface="Malgun Gothic"/>
              </a:rPr>
              <a:t>Q6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25880" y="5440680"/>
            <a:ext cx="1828800" cy="64008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544068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Malgun Gothic"/>
              </a:rPr>
              <a:t>OEM과 뭐가 다름?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44068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Lock-in 6요인 (지식·데이터·계약·원격·LCA·수수료) — HMS는 1·2·6 보유 / 3·4·5는 함께 확보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부록 C — 예상 Q&amp;A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임원 질의 대응 — 6개 핵심 질문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20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772400"/>
              </a:tblGrid>
              <a:tr h="7053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예상 질문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답변 요지</a:t>
                      </a:r>
                    </a:p>
                  </a:txBody>
                  <a:tcPr marL="73152" marR="73152" marT="36576" marB="36576">
                    <a:solidFill>
                      <a:srgbClr val="002B5C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Malgun Gothic"/>
                        </a:rPr>
                        <a:t>오아시스 실패 담당자가 반대할 텐데?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Malgun Gothic"/>
                        </a:rPr>
                        <a:t>오아시스 경험이 오히려 자산. 실패 요인 5가지를 구조적으로 회피하는 설계임을 어필. 그들과 협업하여 검증.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Malgun Gothic"/>
                        </a:rPr>
                        <a:t>무상으로 시작하면 수익화가 늦지 않나?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Malgun Gothic"/>
                        </a:rPr>
                        <a:t>무상은 "신뢰 비용". Phase 3 유상 전환은 기존 LCA·AS 계약 구조 활용 — 추가 영업 비용 없음. 깔때기 상단을 넓혀야 하단 매출이 커진다.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Malgun Gothic"/>
                        </a:rPr>
                        <a:t>해외지사가 본사 R&amp;D급 답변 가능한가?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Malgun Gothic"/>
                        </a:rPr>
                        <a:t>불가능 건은 Tier 4로 자동 에스컬레이션. Tier 2·3 수준에서 90%+ 해결 (OEM 3사 평균).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Malgun Gothic"/>
                        </a:rPr>
                        <a:t>기술적으로 웹 구축 가능한가?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Malgun Gothic"/>
                        </a:rPr>
                        <a:t>HMS는 이미 Hi-4S·SmartCare 운영 중. 웹 포털은 SaaS형 외부 플랫폼(Salesforce Service Cloud 등) 활용 가능.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Malgun Gothic"/>
                        </a:rPr>
                        <a:t>선주가 데이터 공유를 꺼리지 않을까?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Malgun Gothic"/>
                        </a:rPr>
                        <a:t>이미 Hi-4S로 공유 중. 포털은 "보는 화면"을 추가하는 것이지 "공유 범위"를 늘리는 것이 아님.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Malgun Gothic"/>
                        </a:rPr>
                        <a:t>수리업체 생태계와 충돌?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Malgun Gothic"/>
                        </a:rPr>
                        <a:t>수리업체 중개는 본 제안에서 제외. 제3자 수리는 기존 루트 유지. 본 제안은 "HMS 직접 기술지원"에 국한.</a:t>
                      </a:r>
                    </a:p>
                  </a:txBody>
                  <a:tcPr marL="73152" marR="73152" marT="36576" marB="36576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참고문헌 [1] — OEM 선도기업 24/7 포털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Wärtsilä · ABB · Kongsberg 공식 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21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Wärtsilä Smart Support Centre — 24/7 글로벌 기술 지원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Wärtsilä Expert Insight Service — 데이터 기반 선박 모니터링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My Wärtsilä Portal — 선주·운영자용 통합 창구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889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Wärtsilä Lifecycle Agreement — Japanese Ferry Operator (2025)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[5]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004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ABB Ability™ Remote Diagnostics and Predictive Maintenance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11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[6]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118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ABB Integrated Operations Centers (IOC)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[7]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233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ABB Remote Diagnostic Services Brochure (RDS Marine, 2014)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[8]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348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Maritime Executive — ABB Latest Update of Remote Diagnostic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[9]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46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Kongsberg Maritime — Remote Support (24/7)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57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[10]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2578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Kongsberg Maritime — K-IMS (Information Management System)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참고문헌 [2]~[6] — HMS / 시장 / 이론 / 사내자료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Malgun Gothic"/>
              </a:rPr>
              <a:t>본 제안서 작성 기반 자료 일람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09728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Malgun Gothic"/>
              </a:rPr>
              <a:t>22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Malgun Gothic"/>
              </a:rPr>
              <a:t>HD현대마린솔루션테크 · 24/7 무상 기술지원 웹사이트 구축 제안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474720" cy="8686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[2] HMS 기존 서비스 · 오아시스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50876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50876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디지털 서비스 공식 페이지 / 통합 디지털 솔루션 Hi-4S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78308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78308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서울경제 — 부산 SmartCare 센터 설치 (2024.05)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05740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5740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OASIS 선박 수리 서비스 중개 플랫폼 / HGS 50년 무상 보증 경험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3474720" cy="8686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1460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[3] 시장·산업 동향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46888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46888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Fortune Business Insights — Maritime Satellite Communication Market (2025~2034)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74320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74320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DNV — Maritime Forecast to 2050 (원격 지원·디지털화 전망)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01752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01752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Clarksons Research — World Fleet Register &amp; Service Trends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3474720" cy="8686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7472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[4] B2B 플랫폼 · 양면시장 이론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42900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42900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HBR — Why Most B2B Marketplaces Fail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70332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70332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a16z — The Dynamics of Network Effects (양면시장 임계점)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397764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97764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MIT Sloan — The Rise of the Platform Enterprise (Customer Lock-in)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43400"/>
            <a:ext cx="3474720" cy="8686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43484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[5] OEM Lock-in · 고객 유지 전략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438912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38912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McKinsey — The After-sales Services of Industrial OEMs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466344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66344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Deloitte — Industry 4.0 and the Digital Twin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493776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93776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BCG — Service Models in Capital-Intensive Industries (LCA 구조)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303520"/>
            <a:ext cx="3474720" cy="8686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39496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[6] 사내 자료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9080" y="534924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534924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원격 기술 지원 24/7 전문가 대기 체계 제안 (2026.04)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9080" y="562356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562356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선도기업 AM 전략 벤치마킹 보고서 (2026.04)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9080" y="589788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Malgun Gothic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5897880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배전반 서비스 리포트 고도화 제안 (2026.04)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548640" cy="731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A00"/>
                </a:solidFill>
                <a:latin typeface="Malgun Gothic"/>
              </a:rPr>
              <a:t>FINAL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메일을 열던 그 손이,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자연스럽게 우리 웹을 여는 순간.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7A00"/>
                </a:solidFill>
                <a:latin typeface="Malgun Gothic"/>
              </a:rPr>
              <a:t>기존 선주 → 무상 기술지원 → 신뢰 형성 → 유상 LCA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2D9"/>
                </a:solidFill>
                <a:latin typeface="Malgun Gothic"/>
              </a:rPr>
              <a:t>바르질라·콩스버그가 30년 걸린 포털 포지션을 HMS는 3~5년 안에.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0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감사합니다  ·  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2636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7A00"/>
                </a:solidFill>
                <a:latin typeface="Malgun Gothic"/>
              </a:rPr>
              <a:t>HD현대마린솔루션테크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Apple SD Gothic Neo"/>
              </a:rPr>
              <a:t>결론 — 정량 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Apple SD Gothic Neo"/>
              </a:rPr>
              <a:t>Before vs After 핵심 지표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Apple SD Gothic Neo"/>
              </a:rPr>
              <a:t>HD현대마린솔루션테크 · 24/7 무상 기술지원 웹사이트 구축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Apple SD Gothic Neo"/>
              </a:rPr>
              <a:t>17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08095"/>
                </a:solidFill>
                <a:latin typeface="Apple SD Gothic Neo"/>
              </a:rPr>
              <a:t>Before(메일·전화) → After(웹+24/7 응답) — 핵심 지표의 정량 점프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1325880"/>
            <a:ext cx="274320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13075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ple SD Gothic Neo"/>
              </a:rPr>
              <a:t>Before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20" y="1325880"/>
            <a:ext cx="274320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52760" y="13075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pple SD Gothic Neo"/>
              </a:rPr>
              <a:t>After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46504"/>
            <a:ext cx="1124712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293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Apple SD Gothic Neo"/>
              </a:rPr>
              <a:t>기술 문의 평균 응답시간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1828800"/>
            <a:ext cx="2592324" cy="182880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2057400"/>
            <a:ext cx="115214" cy="20116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17830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08095"/>
                </a:solidFill>
                <a:latin typeface="Apple SD Gothic Neo"/>
              </a:rPr>
              <a:t>12~24시간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0391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Apple SD Gothic Neo"/>
              </a:rPr>
              <a:t>15분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5877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Apple SD Gothic Neo"/>
              </a:rPr>
              <a:t>케이스 디지털 자산화율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487168"/>
            <a:ext cx="129616" cy="182880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1920" y="2715768"/>
            <a:ext cx="5472684" cy="20116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44144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08095"/>
                </a:solidFill>
                <a:latin typeface="Apple SD Gothic Neo"/>
              </a:rPr>
              <a:t>&lt;5%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6974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Apple SD Gothic Neo"/>
              </a:rPr>
              <a:t>≥ 95%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63240"/>
            <a:ext cx="1124712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46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Apple SD Gothic Neo"/>
              </a:rPr>
              <a:t>선주별 이력 일원화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145536"/>
            <a:ext cx="259232" cy="182880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20" y="3374136"/>
            <a:ext cx="5760720" cy="20116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309981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08095"/>
                </a:solidFill>
                <a:latin typeface="Apple SD Gothic Neo"/>
              </a:rPr>
              <a:t>메일함 산재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35584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Apple SD Gothic Neo"/>
              </a:rPr>
              <a:t>선박×년 단위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9044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Apple SD Gothic Neo"/>
              </a:rPr>
              <a:t>야간/주말 1차 응답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3803904"/>
            <a:ext cx="259232" cy="182880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31920" y="4032504"/>
            <a:ext cx="5760720" cy="20116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375818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08095"/>
                </a:solidFill>
                <a:latin typeface="Apple SD Gothic Neo"/>
              </a:rPr>
              <a:t>X (다음 영업일)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01421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Apple SD Gothic Neo"/>
              </a:rPr>
              <a:t>○ 자동+당번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79976"/>
            <a:ext cx="1124712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5628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Apple SD Gothic Neo"/>
              </a:rPr>
              <a:t>FAQ 자동 해소 비중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4462272"/>
            <a:ext cx="1" cy="182880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31920" y="4690872"/>
            <a:ext cx="2880360" cy="20116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441655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08095"/>
                </a:solidFill>
                <a:latin typeface="Apple SD Gothic Neo"/>
              </a:rPr>
              <a:t>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467258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Apple SD Gothic Neo"/>
              </a:rPr>
              <a:t>≈ 50%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2212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Apple SD Gothic Neo"/>
              </a:rPr>
              <a:t>LCA 전환 가능 트리거 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5120640"/>
            <a:ext cx="129616" cy="182880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31920" y="5349240"/>
            <a:ext cx="4896612" cy="20116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507492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08095"/>
                </a:solidFill>
                <a:latin typeface="Apple SD Gothic Neo"/>
              </a:rPr>
              <a:t>연 1~2회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533095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Apple SD Gothic Neo"/>
              </a:rPr>
              <a:t>주~월 단위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577840"/>
            <a:ext cx="109728" cy="6400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6418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A00"/>
                </a:solidFill>
                <a:latin typeface="Apple SD Gothic Neo"/>
              </a:rPr>
              <a:t>운영 효과 한 줄 요약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응답시간 ↓ 99%   ·   이력 자산화율 ↑ 19배   ·   야간/주말 공백 제거   ·   유상 전환 트리거 빈도 ↑ 20~50배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Apple SD Gothic Neo"/>
              </a:rPr>
              <a:t>본론 4 · Q4 — 사용 빈도 점프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Apple SD Gothic Neo"/>
              </a:rPr>
              <a:t>오아시스 대비 ×20~×50 — 관계 자산화의 동력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Apple SD Gothic Neo"/>
              </a:rPr>
              <a:t>HD현대마린솔루션테크 · 24/7 무상 기술지원 웹사이트 구축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Apple SD Gothic Neo"/>
              </a:rPr>
              <a:t>13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08095"/>
                </a:solidFill>
                <a:latin typeface="Apple SD Gothic Neo"/>
              </a:rPr>
              <a:t>수리 견적은 연 1~2회뿐. 일상 기술 문의는 주/월 단위 — 빈도 자체가 20~50배 다름.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394960" cy="31089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394960" cy="411480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9280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</a:rPr>
              <a:t>오아시스 모델  ·  수리 견적 중개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08095"/>
                </a:solidFill>
                <a:latin typeface="Apple SD Gothic Neo"/>
              </a:rPr>
              <a:t>트리거: 도크/수리 발생 시점만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>
                <a:solidFill>
                  <a:srgbClr val="708095"/>
                </a:solidFill>
                <a:latin typeface="Apple SD Gothic Neo"/>
              </a:rPr>
              <a:t>1~2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08095"/>
                </a:solidFill>
                <a:latin typeface="Apple SD Gothic Neo"/>
              </a:rPr>
              <a:t>회 / 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26280"/>
            <a:ext cx="329184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708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15568" y="4526280"/>
            <a:ext cx="329184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708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99616" y="4526280"/>
            <a:ext cx="329184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708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83664" y="4526280"/>
            <a:ext cx="329184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708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67712" y="4526280"/>
            <a:ext cx="329184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1760" y="4526280"/>
            <a:ext cx="329184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708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35808" y="4526280"/>
            <a:ext cx="329184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708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19856" y="4526280"/>
            <a:ext cx="329184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708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03904" y="4526280"/>
            <a:ext cx="329184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708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87952" y="4526280"/>
            <a:ext cx="329184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4526280"/>
            <a:ext cx="329184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708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56048" y="4526280"/>
            <a:ext cx="329184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708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828800"/>
            <a:ext cx="5394960" cy="310896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828800"/>
            <a:ext cx="5394960" cy="4114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89280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</a:rPr>
              <a:t>본 제안  ·  일상 기술 문의 흐름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3774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2D9"/>
                </a:solidFill>
                <a:latin typeface="Apple SD Gothic Neo"/>
              </a:rPr>
              <a:t>트리거: 매주~매월 발생하는 운영 이슈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74320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>
                <a:solidFill>
                  <a:srgbClr val="FF7A00"/>
                </a:solidFill>
                <a:latin typeface="Apple SD Gothic Neo"/>
              </a:rPr>
              <a:t>24~52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023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회 / 년 (주 1회 ~ 월 2회 가정)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526280"/>
            <a:ext cx="329184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67728" y="4526280"/>
            <a:ext cx="329184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51776" y="4526280"/>
            <a:ext cx="329184" cy="164592"/>
          </a:xfrm>
          <a:prstGeom prst="rect">
            <a:avLst/>
          </a:prstGeom>
          <a:solidFill>
            <a:srgbClr val="001A3D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35824" y="4526280"/>
            <a:ext cx="329184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19872" y="4526280"/>
            <a:ext cx="329184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03920" y="4526280"/>
            <a:ext cx="329184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87968" y="4526280"/>
            <a:ext cx="329184" cy="164592"/>
          </a:xfrm>
          <a:prstGeom prst="rect">
            <a:avLst/>
          </a:prstGeom>
          <a:solidFill>
            <a:srgbClr val="001A3D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72016" y="4526280"/>
            <a:ext cx="329184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6064" y="4526280"/>
            <a:ext cx="329184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40112" y="4526280"/>
            <a:ext cx="329184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24160" y="4526280"/>
            <a:ext cx="329184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08208" y="4526280"/>
            <a:ext cx="329184" cy="164592"/>
          </a:xfrm>
          <a:prstGeom prst="rect">
            <a:avLst/>
          </a:prstGeom>
          <a:solidFill>
            <a:srgbClr val="001A3D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457200" y="5212080"/>
            <a:ext cx="11247120" cy="64008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사용 빈도 ×20 ~ ×50  →  관계 자산화 가능 영역으로 이동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08095"/>
                </a:solidFill>
                <a:latin typeface="Apple SD Gothic Neo"/>
              </a:rPr>
              <a:t>■ 접점 발생 (월별 시각화)   |   회색=미발생, 주황=발생   ·   년 단위 패턴 시뮬레이션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00"/>
                </a:solidFill>
                <a:latin typeface="Apple SD Gothic Neo"/>
              </a:rPr>
              <a:t>본론 3 · Q3 — 체감 응답 속도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2B5C"/>
                </a:solidFill>
                <a:latin typeface="Apple SD Gothic Neo"/>
              </a:rPr>
              <a:t>Tier별 SLA 사다리 — 즉시→24시간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2D9"/>
                </a:solidFill>
                <a:latin typeface="Apple SD Gothic Neo"/>
              </a:rPr>
              <a:t>HD현대마린솔루션테크 · 24/7 무상 기술지원 웹사이트 구축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>
                <a:solidFill>
                  <a:srgbClr val="CBD2D9"/>
                </a:solidFill>
                <a:latin typeface="Apple SD Gothic Neo"/>
              </a:rPr>
              <a:t>10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08095"/>
                </a:solidFill>
                <a:latin typeface="Apple SD Gothic Neo"/>
              </a:rPr>
              <a:t>Tier가 올라갈수록 응답 시간이 늘어나지만, 80% 이상의 문의는 Tier 1~2에서 즉시 처리됨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920240"/>
            <a:ext cx="1" cy="3291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Apple SD Gothic Neo"/>
              </a:rPr>
              <a:t>Tier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500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08095"/>
                </a:solidFill>
                <a:latin typeface="Apple SD Gothic Neo"/>
              </a:rPr>
              <a:t>자동 봇 + 지식베이스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221992"/>
            <a:ext cx="7863840" cy="228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2221992"/>
            <a:ext cx="314553" cy="2286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3433" y="21488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7A00"/>
                </a:solidFill>
                <a:latin typeface="Apple SD Gothic Neo"/>
              </a:rPr>
              <a:t>0초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22219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708095"/>
                </a:solidFill>
                <a:latin typeface="Apple SD Gothic Neo"/>
              </a:rPr>
              <a:t>≈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Apple SD Gothic Neo"/>
              </a:rPr>
              <a:t>Tier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729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08095"/>
                </a:solidFill>
                <a:latin typeface="Apple SD Gothic Neo"/>
              </a:rPr>
              <a:t>당번 엔지니어 (해외지사)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044952"/>
            <a:ext cx="7863840" cy="228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40" y="3044952"/>
            <a:ext cx="1415491" cy="228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4371" y="2971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2B5C"/>
                </a:solidFill>
                <a:latin typeface="Apple SD Gothic Neo"/>
              </a:rPr>
              <a:t>15분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30449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708095"/>
                </a:solidFill>
                <a:latin typeface="Apple SD Gothic Neo"/>
              </a:rPr>
              <a:t>≈ 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49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Apple SD Gothic Neo"/>
              </a:rPr>
              <a:t>Tier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959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08095"/>
                </a:solidFill>
                <a:latin typeface="Apple SD Gothic Neo"/>
              </a:rPr>
              <a:t>도메인 전문가 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3867912"/>
            <a:ext cx="7863840" cy="228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77440" y="3867912"/>
            <a:ext cx="3931920" cy="228600"/>
          </a:xfrm>
          <a:prstGeom prst="rect">
            <a:avLst/>
          </a:prstGeom>
          <a:solidFill>
            <a:srgbClr val="00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96A0"/>
                </a:solidFill>
                <a:latin typeface="Apple SD Gothic Neo"/>
              </a:rPr>
              <a:t>2시간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38679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708095"/>
                </a:solidFill>
                <a:latin typeface="Apple SD Gothic Neo"/>
              </a:rPr>
              <a:t>≈ 12%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Apple SD Gothic Neo"/>
              </a:rPr>
              <a:t>Tier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18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08095"/>
                </a:solidFill>
                <a:latin typeface="Apple SD Gothic Neo"/>
              </a:rPr>
              <a:t>본사 R&amp;D 엔지니어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4690872"/>
            <a:ext cx="7863840" cy="228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4690872"/>
            <a:ext cx="7863840" cy="228600"/>
          </a:xfrm>
          <a:prstGeom prst="rect">
            <a:avLst/>
          </a:prstGeom>
          <a:solidFill>
            <a:srgbClr val="00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46177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1A3D"/>
                </a:solidFill>
                <a:latin typeface="Apple SD Gothic Neo"/>
              </a:rPr>
              <a:t>24시간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46908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708095"/>
                </a:solidFill>
                <a:latin typeface="Apple SD Gothic Neo"/>
              </a:rPr>
              <a:t>≈ 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5212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708095"/>
                </a:solidFill>
                <a:latin typeface="Apple SD Gothic Neo"/>
              </a:rPr>
              <a:t>  ←  빠름                                                  느림 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5212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08095"/>
                </a:solidFill>
                <a:latin typeface="Apple SD Gothic Neo"/>
              </a:rPr>
              <a:t>예상 비중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77840"/>
            <a:ext cx="278892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577840"/>
            <a:ext cx="54864" cy="6400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56235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Apple SD Gothic Neo"/>
              </a:rPr>
              <a:t>0초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56418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Apple SD Gothic Neo"/>
              </a:rPr>
              <a:t>자동 응답 비중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59070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08095"/>
                </a:solidFill>
                <a:latin typeface="Apple SD Gothic Neo"/>
              </a:rPr>
              <a:t>Tier 1 자동화 적용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5577840"/>
            <a:ext cx="278892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5577840"/>
            <a:ext cx="54864" cy="6400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56432" y="56235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Apple SD Gothic Neo"/>
              </a:rPr>
              <a:t>15분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6418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Apple SD Gothic Neo"/>
              </a:rPr>
              <a:t>체감 SLA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9070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08095"/>
                </a:solidFill>
                <a:latin typeface="Apple SD Gothic Neo"/>
              </a:rPr>
              <a:t>Tier 2 당번 응답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5577840"/>
            <a:ext cx="278892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5577840"/>
            <a:ext cx="54864" cy="6400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56235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Apple SD Gothic Neo"/>
              </a:rPr>
              <a:t>85%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56418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Apple SD Gothic Neo"/>
              </a:rPr>
              <a:t>Tier 1~2 처리율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59070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08095"/>
                </a:solidFill>
                <a:latin typeface="Apple SD Gothic Neo"/>
              </a:rPr>
              <a:t>사람 개입 최소화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5577840"/>
            <a:ext cx="278892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61120" y="5577840"/>
            <a:ext cx="54864" cy="6400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25712" y="56235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Apple SD Gothic Neo"/>
              </a:rPr>
              <a:t>24/7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56418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Apple SD Gothic Neo"/>
              </a:rPr>
              <a:t>선주 체감 가용성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59070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08095"/>
                </a:solidFill>
                <a:latin typeface="Apple SD Gothic Neo"/>
              </a:rPr>
              <a:t>사람 24h 대기 불필요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