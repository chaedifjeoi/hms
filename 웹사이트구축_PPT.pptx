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9A9A"/>
                </a:solidFill>
                <a:latin typeface="맑은 고딕"/>
              </a:rPr>
              <a:t>회사 중장기('30년까지) 사업계획 달성 및 경쟁력 강화를 위한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8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웹사이트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77639"/>
            <a:ext cx="2011680" cy="36576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맑은 고딕"/>
              </a:rPr>
              <a:t>2026  ·  전략기획팀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" y="6263640"/>
            <a:ext cx="12124944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맑은 고딕"/>
              </a:rPr>
              <a:t>참고 자료: TalkFile 24/7 무상 기술지원 웹사이트 구축 제안  |  TalkFile 원격 기술 지원 — 24/7 전문가 대기 체계 제안  |  최종_선도기업 AM 전략 벤치마킹 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목  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A27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7043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0A0A"/>
                </a:solidFill>
                <a:latin typeface="맑은 고딕"/>
              </a:rPr>
              <a:t>오아시스 망한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93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디지털 플랫폼 실패 사례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212080" cy="137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A27"/>
                </a:solidFill>
                <a:latin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17043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0A0A"/>
                </a:solidFill>
                <a:latin typeface="맑은 고딕"/>
              </a:rPr>
              <a:t>그럼에도 웹사이트?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6093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B2B 기술 서비스업의 디지털 채널 필요성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57400"/>
            <a:ext cx="5212080" cy="137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A27"/>
                </a:solidFill>
                <a:latin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7063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0A0A"/>
                </a:solidFill>
                <a:latin typeface="맑은 고딕"/>
              </a:rPr>
              <a:t>선도기업 벤치마킹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095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글로벌 AM 전략 선도기업 사례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212080" cy="137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7889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A27"/>
                </a:solidFill>
                <a:latin typeface="맑은 고딕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7063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0A0A"/>
                </a:solidFill>
                <a:latin typeface="맑은 고딕"/>
              </a:rPr>
              <a:t>웹사이트에 넣을 것들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2095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CBM 포털 · 24/7 지원 · PM 인계 시스템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212080" cy="137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A27"/>
                </a:solidFill>
                <a:latin typeface="맑은 고딕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7083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0A0A"/>
                </a:solidFill>
                <a:latin typeface="맑은 고딕"/>
              </a:rPr>
              <a:t>유상 전환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097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구독형 vs 건별 과금 모델 설계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5212080" cy="137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3891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A27"/>
                </a:solidFill>
                <a:latin typeface="맑은 고딕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37083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0A0A"/>
                </a:solidFill>
                <a:latin typeface="맑은 고딕"/>
              </a:rPr>
              <a:t>기대효과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8097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영업·서비스·수익 구조 개선 성과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257800"/>
            <a:ext cx="5212080" cy="137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471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B8D"/>
                </a:solidFill>
                <a:latin typeface="맑은 고딕"/>
              </a:rPr>
              <a:t>참고: TalkFile 24/7 무상 기술지원 웹사이트 구축 제안  |  TalkFile 원격 기술 지원 — 24/7 전문가 대기 체계 제안  |  최종_선도기업 AM 전략 벤치마킹 보고서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53A27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71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오아시스 망한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0"/>
            <a:ext cx="1828800" cy="2743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맑은 고딕"/>
              </a:rPr>
              <a:t>디지털 플랫폼 실패 사례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82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53A27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7548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200" b="1">
                <a:solidFill>
                  <a:srgbClr val="0A0A0A"/>
                </a:solidFill>
                <a:latin typeface="맑은 고딕"/>
              </a:rPr>
              <a:t>오아시스마켓 개요 및 핵심 실패 원인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" y="1207008"/>
            <a:ext cx="12124944" cy="201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91412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서비스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176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81203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새벽배송 기반 신선식품 온라인 플랫폼 (2011년 설립 → 2023년 사실상 경쟁력 상실)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2410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221437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차별화 포인트: 유기농·친환경 상품 중심, 합리적 가격 / 누적 회원 400만 이상 확보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2643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261670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연 거래액 3,000억 규모까지 성장하였으나 흑자 전환 실패 → 경쟁력 급격 약화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130296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핵심 실패 원인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60648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3550920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물류 인프라 투자 부담: 콜드체인 유지 비용 급증 → 수익성 구조적 악화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953256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95325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6B7B8D"/>
                </a:solidFill>
                <a:latin typeface="맑은 고딕"/>
              </a:rPr>
              <a:t>새벽배송 전용 물류센터 구축·운영비 급증, BEP(손익분기점) 도달 불가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1960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430987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경쟁 심화: 쿠팡·컬리·SSG 등 대형 자본 플레이어 진입 → 가격·마케팅 전쟁 감당 불가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82193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471220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수익 모델 취약: 무료배송·과도한 할인쿠폰 → 단위당 수익성 결함 구조화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224272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5114544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고객 락인 실패: 반복 구매를 유도할 구독·멤버십 체계 미흡 → 이탈율 지속 증가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5590032"/>
            <a:ext cx="11704320" cy="621792"/>
          </a:xfrm>
          <a:prstGeom prst="rect">
            <a:avLst/>
          </a:prstGeom>
          <a:solidFill>
            <a:srgbClr val="F5F6F7"/>
          </a:solidFill>
          <a:ln w="635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69976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1">
                <a:solidFill>
                  <a:srgbClr val="E53A27"/>
                </a:solidFill>
                <a:latin typeface="맑은 고딕"/>
              </a:rPr>
              <a:t>→ 디지털 채널 구축 자체가 문제가 아닌, 수익 구조 부재와 차별화 전략 실패가 핵심 원인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" y="6291072"/>
            <a:ext cx="12124944" cy="201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6336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8D"/>
                </a:solidFill>
                <a:latin typeface="맑은 고딕"/>
              </a:rPr>
              <a:t>※ 오아시스마켓은 B2C 신선식품 물류 플랫폼 사례. 당사 B2B 기술 서비스와 사업 구조 상이함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53A27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71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그럼에도 웹사이트?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0"/>
            <a:ext cx="1828800" cy="2743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맑은 고딕"/>
              </a:rPr>
              <a:t>B2B 기술 서비스업에서의 전략적 가치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82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53A27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7548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200" b="1">
                <a:solidFill>
                  <a:srgbClr val="0A0A0A"/>
                </a:solidFill>
                <a:latin typeface="맑은 고딕"/>
              </a:rPr>
              <a:t>우리가 웹사이트를 구축해야 하는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" y="1207008"/>
            <a:ext cx="12124944" cy="201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91412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B2B vs B2C: 구조적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176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81203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오아시스는 불특정 다수 소비자 대상 B2C 물류 플랫폼 → 가격·속도 경쟁에 직면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2410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221437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당사는 선주·선박관리사 대상 B2B 기술 서비스 → 신뢰·전문성·장기 관계가 핵심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616708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6167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6B7B8D"/>
                </a:solidFill>
                <a:latin typeface="맑은 고딕"/>
              </a:rPr>
              <a:t>고객 수 少, 계약 단가 高, 장기 LTSA 계약 중심 → 플랫폼 경쟁 구조와 무관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084576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웹사이트가 필요한 이유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14928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3505200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글로벌 선주·선박관리사는 인터넷으로 AM 파트너를 1차 스크리닝 → 디지털 접점 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1726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90753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경쟁사 대비 디지털 채널 부재 → 입찰·영업 기회 손실 지속 발생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1960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430987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24/7 기술지원·CBM 데이터 공유를 위한 고객 전용 포털 구축 필요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82193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471220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LTSA 계약 선주 대상 전용 서비스 제공 → 고객 락인 및 재계약율 향상 기여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5114544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11454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6B7B8D"/>
                </a:solidFill>
                <a:latin typeface="맑은 고딕"/>
              </a:rPr>
              <a:t>포털 사용 이력이 쌓일수록 이탈 전환 비용 증가 → 장기 관계 구조적 안정화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5544312"/>
            <a:ext cx="11704320" cy="621792"/>
          </a:xfrm>
          <a:prstGeom prst="rect">
            <a:avLst/>
          </a:prstGeom>
          <a:solidFill>
            <a:srgbClr val="F5F6F7"/>
          </a:solidFill>
          <a:ln w="635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65404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1">
                <a:solidFill>
                  <a:srgbClr val="E53A27"/>
                </a:solidFill>
                <a:latin typeface="맑은 고딕"/>
              </a:rPr>
              <a:t>→ 웹사이트는 비용이 아닌 영업·서비스·고객 관리를 위한 핵심 인프라 투자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53A27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71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선도기업 웹사이트 벤치마킹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0"/>
            <a:ext cx="1828800" cy="2743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맑은 고딕"/>
              </a:rPr>
              <a:t>글로벌 AM 전략 선도기업 사례 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82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53A27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7548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200" b="1">
                <a:solidFill>
                  <a:srgbClr val="0A0A0A"/>
                </a:solidFill>
                <a:latin typeface="맑은 고딕"/>
              </a:rPr>
              <a:t>선도기업 벤치마킹 결과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" y="1207008"/>
            <a:ext cx="12124944" cy="201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91412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분석 대상 기업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176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81203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Wartsila (핀란드): 선박 엔진·추진 시스템 글로벌 1위 / 고객 포털 + CBM 대시보드 운영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2410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221437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MAN Energy Solutions (독일): 저속 엔진 시장 1위 / 24/7 원격 지원 + 디지털 서비스 포털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2643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261670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Kongsberg (노르웨이): 자율운항·디지털 AM 솔루션 선도 / 데이터 기반 예측정비 플랫폼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130296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공통 핵심 특징 및 시사점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60648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3550920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고객 전용 포털 운영: 기기별 매뉴얼·부품 조회·서비스 이력 → 고객 접촉 빈도·만족도 향상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6298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95325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CBM 대시보드 탑재: 실시간 상태 모니터링 시각화 → 이상 감지→알림→서비스 연결 자동화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6532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435559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24/7 기술 지원 채널: 챗봇 + 전문가 연결 하이브리드 체계 → 즉각 대응으로 신뢰 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86765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475792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케이스 스터디·레퍼런스 콘텐츠 → 신규 고객 유입 및 서비스 전문성 대외 증명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5233416"/>
            <a:ext cx="11704320" cy="621792"/>
          </a:xfrm>
          <a:prstGeom prst="rect">
            <a:avLst/>
          </a:prstGeom>
          <a:solidFill>
            <a:srgbClr val="F5F6F7"/>
          </a:solidFill>
          <a:ln w="635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5343144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1">
                <a:solidFill>
                  <a:srgbClr val="E53A27"/>
                </a:solidFill>
                <a:latin typeface="맑은 고딕"/>
              </a:rPr>
              <a:t>→ 단순 회사 소개를 넘어 고객 서비스 플랫폼으로 진화한 것이 선도기업의 핵심 전략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" y="6291072"/>
            <a:ext cx="12124944" cy="201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6336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8D"/>
                </a:solidFill>
                <a:latin typeface="맑은 고딕"/>
              </a:rPr>
              <a:t>※ 출처: 최종_선도기업 AM 전략 벤치마킹 보고서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53A27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71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웹사이트에 넣을 것들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0"/>
            <a:ext cx="1828800" cy="2743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맑은 고딕"/>
              </a:rPr>
              <a:t>핵심 기능 및 콘텐츠 구성 계획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82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53A27"/>
                </a:solidFill>
                <a:latin typeface="맑은 고딕"/>
              </a:rPr>
              <a:t>04-1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7548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200" b="1">
                <a:solidFill>
                  <a:srgbClr val="0A0A0A"/>
                </a:solidFill>
                <a:latin typeface="맑은 고딕"/>
              </a:rPr>
              <a:t>CBM (Condition Based Monitoring) 웹사이트 탑재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" y="1207008"/>
            <a:ext cx="12124944" cy="201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91412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CBM 포털 핵심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176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81203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실시간 장비 상태 모니터링 대시보드 (선주별 전용 로그인 접근)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214372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2143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6B7B8D"/>
                </a:solidFill>
                <a:latin typeface="맑은 고딕"/>
              </a:rPr>
              <a:t>진동·온도·압력·오일 분석 데이터 시각화 / 이상 징후 자동 감지 및 알림 (이메일·SMS)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8071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257098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정비 이력·서비스 보고서 디지털 보관 및 조회 (장비·선박 단위 이력 누적)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83052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2973324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예측 정비(Predictive Maintenance) 권고 리포트 자동 생성 및 제공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86912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CBM 탑재 기대효과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1726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90753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선주의 장비 운영 가시성 향상 → 당사 서비스 의존도 및 신뢰도 증가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1960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430987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LTSA 계약 갱신율 향상: 데이터로 서비스 가치를 수치로 입증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82193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471220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예방정비 전환으로 긴급 수리 건수·비용 감소 → 고객 만족도 향상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5114544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11454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6B7B8D"/>
                </a:solidFill>
                <a:latin typeface="맑은 고딕"/>
              </a:rPr>
              <a:t>현장 출동 빈도 감소 → 운영 효율화 및 서비스 원가 절감 효과 동시 확보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5544312"/>
            <a:ext cx="11704320" cy="621792"/>
          </a:xfrm>
          <a:prstGeom prst="rect">
            <a:avLst/>
          </a:prstGeom>
          <a:solidFill>
            <a:srgbClr val="F5F6F7"/>
          </a:solidFill>
          <a:ln w="635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65404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1">
                <a:solidFill>
                  <a:srgbClr val="E53A27"/>
                </a:solidFill>
                <a:latin typeface="맑은 고딕"/>
              </a:rPr>
              <a:t>→ CBM 데이터 포털은 LTSA 계약 차별화 및 신규 선주 유입의 핵심 도구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82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53A27"/>
                </a:solidFill>
                <a:latin typeface="맑은 고딕"/>
              </a:rPr>
              <a:t>04-2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7548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200" b="1">
                <a:solidFill>
                  <a:srgbClr val="0A0A0A"/>
                </a:solidFill>
                <a:latin typeface="맑은 고딕"/>
              </a:rPr>
              <a:t>24/7 무상 기술 지원 서비스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" y="1207008"/>
            <a:ext cx="12124944" cy="201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91412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서비스 운영 체계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176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81203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24시간 365일 기술 지원 전문가 상시 대기 (지역별 로테이션 + 원격 화상 지원 병행)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2410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221437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웹 문의 접수 → 자동 티켓 발행 → 담당자 배정 → 처리 현황 실시간 추적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2643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261670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FAQ + 기술 매뉴얼 자가 검색 기능 → 단순 문의 자동 해결 → 전문가 집중도 향상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28772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3019044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원격 진단 도구 연동: 선내 장비 실시간 데이터 연결 → 현장 출동 前 원인 파악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532632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무상 제공 범위 및 유상 전환 기준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6298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95325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무상: 기본 기술 문의·원격 진단·매뉴얼 안내 — LTSA 계약사 전용 혜택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6532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435559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유상: 현장 출동·부품 교체·대규모 개조 공사 — 별도 협의 과금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757928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7579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6B7B8D"/>
                </a:solidFill>
                <a:latin typeface="맑은 고딕"/>
              </a:rPr>
              <a:t>경계 명확화로 고객 기대 관리 및 안정적 수익 구조를 동시에 확보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5187696"/>
            <a:ext cx="11704320" cy="621792"/>
          </a:xfrm>
          <a:prstGeom prst="rect">
            <a:avLst/>
          </a:prstGeom>
          <a:solidFill>
            <a:srgbClr val="F5F6F7"/>
          </a:solidFill>
          <a:ln w="635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5297424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1">
                <a:solidFill>
                  <a:srgbClr val="E53A27"/>
                </a:solidFill>
                <a:latin typeface="맑은 고딕"/>
              </a:rPr>
              <a:t>→ 무상 기술 지원은 LTSA 신규 계약 유인책이자 고객 충성도 강화의 핵심 수단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" y="6291072"/>
            <a:ext cx="12124944" cy="201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6336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8D"/>
                </a:solidFill>
                <a:latin typeface="맑은 고딕"/>
              </a:rPr>
              <a:t>※ 출처: TalkFile 24/7 무상 기술지원 웹사이트 구축 제안  |  TalkFile 원격 기술 지원 — 24/7 전문가 대기 체계 제안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82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53A27"/>
                </a:solidFill>
                <a:latin typeface="맑은 고딕"/>
              </a:rPr>
              <a:t>04-3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7548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200" b="1">
                <a:solidFill>
                  <a:srgbClr val="0A0A0A"/>
                </a:solidFill>
                <a:latin typeface="맑은 고딕"/>
              </a:rPr>
              <a:t>기술 지원 후 PM 인계 자료 디지털화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" y="1207008"/>
            <a:ext cx="12124944" cy="201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91412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현황 및 문제점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176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81203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현장 기술 지원 완료 후 PM 인계 자료가 이메일·종이 문서로 산재 → 체계 없음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2410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221437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담당자 교체 시 서비스 이력 단절 → 재발 문제 대응 지연 → 고객 불만 증가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2643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261670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선주 자료 요청 시 조회에 과도한 시간 소요 → 대외 전문성 신뢰도 저하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130296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웹사이트 기반 디지털 인계 체계 구축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60648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3550920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지원 완료 즉시 포털에 보고서 업로드 (작업 내용·교체 부품·차기 점검일 등 표준화)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6298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95325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선주 및 내부 PM팀 동시 열람 가능 → 정보 투명성 확보 → 신뢰 관계 강화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6532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435559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장비·선박 단위 이력 누적 → 예측 정비 데이터베이스로 전략적 활용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86765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475792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LTSA 연계 활용: 이력 데이터를 신규 선주 영업 레퍼런스로 활용 → 계약 확장 기여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5233416"/>
            <a:ext cx="11704320" cy="621792"/>
          </a:xfrm>
          <a:prstGeom prst="rect">
            <a:avLst/>
          </a:prstGeom>
          <a:solidFill>
            <a:srgbClr val="F5F6F7"/>
          </a:solidFill>
          <a:ln w="635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5343144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1">
                <a:solidFill>
                  <a:srgbClr val="E53A27"/>
                </a:solidFill>
                <a:latin typeface="맑은 고딕"/>
              </a:rPr>
              <a:t>→ LTSA 계약 확대 시 디지털 이력 관리가 추가 선주 유입의 핵심 증거 자료로 기능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53A27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71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유상전환시점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0"/>
            <a:ext cx="1828800" cy="2743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맑은 고딕"/>
              </a:rPr>
              <a:t>무상 → 유상 과금 전환 모델 설계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82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53A27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7548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200" b="1">
                <a:solidFill>
                  <a:srgbClr val="0A0A0A"/>
                </a:solidFill>
                <a:latin typeface="맑은 고딕"/>
              </a:rPr>
              <a:t>유상 전환 시점 및 과금 모델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" y="1207008"/>
            <a:ext cx="12124944" cy="201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91412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과금 모델 옵션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176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81203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[구독형] 월정액 기반 기술 지원 서비스 패키지 — 안정적 반복 매출 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214372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2143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6B7B8D"/>
                </a:solidFill>
                <a:latin typeface="맑은 고딕"/>
              </a:rPr>
              <a:t>Basic(원격 지원만) / Standard(+현장 연 1회) / Premium(무제한 현장) 3-tier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570988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7098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6B7B8D"/>
                </a:solidFill>
                <a:latin typeface="맑은 고딕"/>
              </a:rPr>
              <a:t>고객 예산 계획 용이, LTSA 재계약 연동 시 락인 효과 극대화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37332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2927604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[건별형] 서비스 발생 건당 단위 과금 — 소규모 선주·단기 계약사 접근성 높음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329940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  <a:latin typeface="맑은 고딕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3299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6B7B8D"/>
                </a:solidFill>
                <a:latin typeface="맑은 고딕"/>
              </a:rPr>
              <a:t>수익 예측 불안정, 장기 고객 관계 연속성 약함 → 보완 모델로 병행 유지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3797808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권장 전환 로드맵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32816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421843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1단계 ('26~'27): 무상 서비스로 LTSA 기존 고객 포털 정착 유도 → 사용 데이터 축적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73049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462076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2단계 ('28): 신규 계약 고객 대상 구독형 Basic 유료화 시작 → 시장 반응 모니터링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132832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5023104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3단계 ('29~'30): 전 고객 구독 패키지 전환 완료 / 건별형 병행 유지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5498592"/>
            <a:ext cx="11704320" cy="621792"/>
          </a:xfrm>
          <a:prstGeom prst="rect">
            <a:avLst/>
          </a:prstGeom>
          <a:solidFill>
            <a:srgbClr val="F5F6F7"/>
          </a:solidFill>
          <a:ln w="635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60832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1">
                <a:solidFill>
                  <a:srgbClr val="E53A27"/>
                </a:solidFill>
                <a:latin typeface="맑은 고딕"/>
              </a:rPr>
              <a:t>→ 구독형 전환 목표: '30년 기준 서비스 반복 매출 비중 30% 이상 달성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53A27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71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기대효과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0"/>
            <a:ext cx="1828800" cy="2743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맑은 고딕"/>
              </a:rPr>
              <a:t>웹사이트 구축을 통한 사업 성과 전망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82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53A27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7548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200" b="1">
                <a:solidFill>
                  <a:srgbClr val="0A0A0A"/>
                </a:solidFill>
                <a:latin typeface="맑은 고딕"/>
              </a:rPr>
              <a:t>웹사이트 구축 기대효과 총괄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" y="1207008"/>
            <a:ext cx="12124944" cy="20116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91412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영업·마케팅 효과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1764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812036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글로벌 선주·선박관리사 디지털 접점 확보 → 연간 신규 문의 30% 증가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2410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221437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레퍼런스 콘텐츠 + CBM 데이터 시각화로 영업 설득력 강화 → 수주 전환율 향상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2643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261670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LTSA 계약 갱신율 향상 목표: '30년까지 90% 이상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112008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서비스·운영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42360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3532632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24/7 원격 지원 체계로 현장 출동 비용 절감 (목표: 연간 출동 건수 20% 감소)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4469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93496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디지털 이력 관리로 PM 인계 소요 시간 50% 단축 → 서비스 효율화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47032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4337304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CBM 기반 예측정비 → 긴급 수리 건수 감소 → 고객 만족도·NPS 향상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832604"/>
            <a:ext cx="1170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맑은 고딕"/>
              </a:rPr>
              <a:t>중장기 수익 구조 개선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362956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" y="5253228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구독 서비스 유료화('28년~) → '30년 서비스 반복 매출 비중 30% 달성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765292"/>
            <a:ext cx="50292" cy="50292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5655564"/>
            <a:ext cx="11503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74151"/>
                </a:solidFill>
                <a:latin typeface="맑은 고딕"/>
              </a:rPr>
              <a:t>웹 포털 → 디지털 AM 플랫폼으로 진화 → 장기 경쟁 우위 구조적 확보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6131052"/>
            <a:ext cx="11704320" cy="621792"/>
          </a:xfrm>
          <a:prstGeom prst="rect">
            <a:avLst/>
          </a:prstGeom>
          <a:solidFill>
            <a:srgbClr val="F5F6F7"/>
          </a:solidFill>
          <a:ln w="635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624078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1">
                <a:solidFill>
                  <a:srgbClr val="E53A27"/>
                </a:solidFill>
                <a:latin typeface="맑은 고딕"/>
              </a:rPr>
              <a:t>→ 웹사이트 구축은 '30년 중장기 목표 달성을 위한 핵심 디지털 인프라 투자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11183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206240"/>
            <a:ext cx="3044952" cy="36576"/>
          </a:xfrm>
          <a:prstGeom prst="rect">
            <a:avLst/>
          </a:prstGeom>
          <a:solidFill>
            <a:srgbClr val="E5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4340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9A9A"/>
                </a:solidFill>
                <a:latin typeface="맑은 고딕"/>
              </a:rPr>
              <a:t>회사 중장기('30년까지) 사업계획 달성 및 경쟁력 강화를 위한 웹사이트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