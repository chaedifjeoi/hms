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4572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7A00"/>
                </a:solidFill>
                <a:latin typeface="Apple SD Gothic Neo"/>
              </a:rPr>
              <a:t>EXECUTIVE PROPOSAL · 2026.04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pple SD Gothic Neo"/>
              </a:rPr>
              <a:t>LTSA 기반 유상 서비스 연계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pple SD Gothic Neo"/>
              </a:rPr>
              <a:t>2030년 안정 매출 구조와 업무 프로세스 개선 통합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2D9"/>
                </a:solidFill>
                <a:latin typeface="Apple SD Gothic Neo"/>
              </a:rPr>
              <a:t>무상 기술지원 → AI 케이스 인계 → HI-CMS 알림 → LTSA 자연 전환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37760"/>
            <a:ext cx="457200" cy="5486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BD2D9"/>
                </a:solidFill>
                <a:latin typeface="Apple SD Gothic Neo"/>
              </a:rPr>
              <a:t>회사 주제 통합 답변 · 중장기 매출 증대 + 업무 프로세스 개선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ple SD Gothic Neo"/>
              </a:rPr>
              <a:t>HD현대마린솔루션테크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FF7A00"/>
                </a:solidFill>
                <a:latin typeface="Apple SD Gothic Neo"/>
              </a:rPr>
              <a:t>2026. 04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한 장으로 보는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2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09728" cy="10972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핵심 명제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무상 보증기간에 축적되는 기술지원 이력을 자산화해, LTSA(장기 서비스 계약) 안정 매출로 자연 전환한다.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매출 증대(중장기 계획)는 결과, 업무 프로세스 개선(AI 인계)은 그 과정에서 부수 달성.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2743200" cy="36576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432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입구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무상 기술지원 포털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8095"/>
                </a:solidFill>
                <a:latin typeface="Apple SD Gothic Neo"/>
              </a:rPr>
              <a:t>현재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044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메일·전화에 산재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7A00"/>
                </a:solidFill>
                <a:latin typeface="Apple SD Gothic Neo"/>
              </a:rPr>
              <a:t>2030 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531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전 선주 단일 창구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69748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2697480"/>
            <a:ext cx="2743200" cy="365760"/>
          </a:xfrm>
          <a:prstGeom prst="rect">
            <a:avLst/>
          </a:prstGeom>
          <a:solidFill>
            <a:srgbClr val="00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27432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통로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200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AI 케이스 인계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703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8095"/>
                </a:solidFill>
                <a:latin typeface="Apple SD Gothic Neo"/>
              </a:rPr>
              <a:t>현재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9044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PM 수기 정리 3~8일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2519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7A00"/>
                </a:solidFill>
                <a:latin typeface="Apple SD Gothic Neo"/>
              </a:rPr>
              <a:t>2030 목표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4531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자동 요약 15~30분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69748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2697480"/>
            <a:ext cx="2743200" cy="36576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7432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통로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200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HI-CMS 통합 알림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703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8095"/>
                </a:solidFill>
                <a:latin typeface="Apple SD Gothic Neo"/>
              </a:rPr>
              <a:t>현재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9044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사내 분석 한정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2519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7A00"/>
                </a:solidFill>
                <a:latin typeface="Apple SD Gothic Neo"/>
              </a:rPr>
              <a:t>2030 목표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4531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선주 직접 알림 클릭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69748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61120" y="2697480"/>
            <a:ext cx="2743200" cy="36576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27432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출구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200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LTSA 자연 전환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8095"/>
                </a:solidFill>
                <a:latin typeface="Apple SD Gothic Neo"/>
              </a:rPr>
              <a:t>현재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9044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단발 유상 ±25%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2519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7A00"/>
                </a:solidFill>
                <a:latin typeface="Apple SD Gothic Neo"/>
              </a:rPr>
              <a:t>2030 목표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4531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구독+사건 ±5%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074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회사 주제 통합 답변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2852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</a:rPr>
              <a:t>2030 매출 증대(중장기 계획)  +  업무 프로세스 개선  →  단일 메커니즘으로 동시 달성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08095"/>
                </a:solidFill>
                <a:latin typeface="Apple SD Gothic Neo"/>
              </a:rPr>
              <a:t>※ 본 제안은 「24/7 무상 기술지원 웹사이트 구축 제안」(선행, 2026.04)의 후속이며, 구축된 무상 포털 위에 단계적으로 적용 가능.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본 발표가 답할 5개 질문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3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822960" cy="82296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ple SD Gothic Neo"/>
              </a:rPr>
              <a:t>Q1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463040"/>
            <a:ext cx="10424160" cy="82296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5544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왜 LTSA인가?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202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OEM 3사가 30년 걸려 도달한 매출 안정 구조의 본질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1737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7A00"/>
                </a:solidFill>
                <a:latin typeface="Apple SD Gothic Neo"/>
              </a:rPr>
              <a:t>본론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23160"/>
            <a:ext cx="822960" cy="82296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231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ple SD Gothic Neo"/>
              </a:rPr>
              <a:t>Q2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2423160"/>
            <a:ext cx="10424160" cy="82296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25146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무상 → 유상 단절은 어떻게 해소하나?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8803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무상 포털 자체가 LTSA 영업 도구가 되는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6974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7A00"/>
                </a:solidFill>
                <a:latin typeface="Apple SD Gothic Neo"/>
              </a:rPr>
              <a:t>본론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822960" cy="82296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832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ple SD Gothic Neo"/>
              </a:rPr>
              <a:t>Q3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3383280"/>
            <a:ext cx="10424160" cy="82296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34747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AI 케이스 인계는 어떻게 작동하나?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8404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PM 수기 3~8일 → AI 자동 15~30분 (99% 감축)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6576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7A00"/>
                </a:solidFill>
                <a:latin typeface="Apple SD Gothic Neo"/>
              </a:rPr>
              <a:t>본론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43400"/>
            <a:ext cx="822960" cy="82296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3434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ple SD Gothic Neo"/>
              </a:rPr>
              <a:t>Q4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4343400"/>
            <a:ext cx="10424160" cy="82296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4348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HI-CMS는 어떻게 선주를 끌어오나?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8006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이상 감지→웹 알림→케이스 자동 생성 (선주 클릭 1회)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46177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7A00"/>
                </a:solidFill>
                <a:latin typeface="Apple SD Gothic Neo"/>
              </a:rPr>
              <a:t>본론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03520"/>
            <a:ext cx="822960" cy="82296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303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ple SD Gothic Neo"/>
              </a:rPr>
              <a:t>Q5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0160" y="5303520"/>
            <a:ext cx="10424160" cy="82296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63040" y="53949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2030년까지 어떻게 도달하나?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7607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5-Phase 게이트 / LTSA 비중 5% → 50%↑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55778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7A00"/>
                </a:solidFill>
                <a:latin typeface="Apple SD Gothic Neo"/>
              </a:rPr>
              <a:t>본론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서론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회사 주제 두 가지를 하나의 메커니즘으로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4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212080" cy="18288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09728" cy="1828800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095"/>
                </a:solidFill>
                <a:latin typeface="Apple SD Gothic Neo"/>
              </a:rPr>
              <a:t>주제 A · 중장기 매출 증대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2B5C"/>
                </a:solidFill>
                <a:latin typeface="Apple SD Gothic Neo"/>
              </a:rPr>
              <a:t>2030년까지 안정적 매출 구조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▸ LTSA 매출 비중 5~10% → 50%↑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▸ 매출 예측 정확도 ±25% → ±5%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▸ 단발성 견적 → 안정 구독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9672" y="1463040"/>
            <a:ext cx="5212080" cy="18288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9672" y="1463040"/>
            <a:ext cx="109728" cy="1828800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554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8095"/>
                </a:solidFill>
                <a:latin typeface="Apple SD Gothic Neo"/>
              </a:rPr>
              <a:t>주제 B · 업무 프로세스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828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2B5C"/>
                </a:solidFill>
                <a:latin typeface="Apple SD Gothic Neo"/>
              </a:rPr>
              <a:t>PM·기술지원·HI-CMS 운영 효율화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3774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▸ PM 1척당 인계 3~8일 → 15~30분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▸ HI-CMS 사내 한정 → 선주 직접 도달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▸ R&amp;R·KPI 측정 가능 구조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632704" y="3383280"/>
            <a:ext cx="914400" cy="457200"/>
          </a:xfrm>
          <a:prstGeom prst="down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23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본 제안의 통합 답변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26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"무상 기술지원 → AI 케이스 인계 → HI-CMS 알림 → LTSA 자연 전환"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BD2D9"/>
                </a:solidFill>
                <a:latin typeface="Apple SD Gothic Neo"/>
              </a:rPr>
              <a:t>두 주제는 별도 답이 아니라 하나의 데이터 흐름에서 동시 달성된다.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7A00"/>
                </a:solidFill>
                <a:latin typeface="Apple SD Gothic Neo"/>
              </a:rPr>
              <a:t>중장기 매출 증대(=결과)  ·  업무 프로세스 개선(=과정)  ·  신규 영업·신규 인력 일괄 투입 불필요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본론 1 · Q1 — 현황과 단절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무상-유상 사이의 데이터 단절 + PM 케이스 재구성 부담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8095"/>
                </a:solidFill>
                <a:latin typeface="Apple SD Gothic Neo"/>
              </a:rPr>
              <a:t>무상 보증기간 동안 쌓인 기술지원 이력이 유상 서비스 조직(PM)에 도달하지 않음 — 구조적 단절이 매출 손실의 원인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103120" cy="15544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103120" cy="4572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</a:rPr>
              <a:t>단계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2B5C"/>
                </a:solidFill>
                <a:latin typeface="Apple SD Gothic Neo"/>
              </a:rPr>
              <a:t>담당 엔지니어 식별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7A00"/>
                </a:solidFill>
                <a:latin typeface="Apple SD Gothic Neo"/>
              </a:rPr>
              <a:t>0.5~1일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67178" y="2468880"/>
            <a:ext cx="137160" cy="27432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1828800"/>
            <a:ext cx="2103120" cy="15544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80" y="1828800"/>
            <a:ext cx="2103120" cy="4572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18745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</a:rPr>
              <a:t>단계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42316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2B5C"/>
                </a:solidFill>
                <a:latin typeface="Apple SD Gothic Neo"/>
              </a:rPr>
              <a:t>메일 이력 수집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971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7A00"/>
                </a:solidFill>
                <a:latin typeface="Apple SD Gothic Neo"/>
              </a:rPr>
              <a:t>1~3일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07458" y="2468880"/>
            <a:ext cx="137160" cy="27432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1828800"/>
            <a:ext cx="2103120" cy="15544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1828800"/>
            <a:ext cx="2103120" cy="4572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18745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</a:rPr>
              <a:t>단계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42316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2B5C"/>
                </a:solidFill>
                <a:latin typeface="Apple SD Gothic Neo"/>
              </a:rPr>
              <a:t>케이스 정리·재구성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971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7A00"/>
                </a:solidFill>
                <a:latin typeface="Apple SD Gothic Neo"/>
              </a:rPr>
              <a:t>0.5~2일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047738" y="2468880"/>
            <a:ext cx="137160" cy="27432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78040" y="1828800"/>
            <a:ext cx="2103120" cy="15544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8040" y="1828800"/>
            <a:ext cx="2103120" cy="4572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8745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</a:rPr>
              <a:t>단계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42316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2B5C"/>
                </a:solidFill>
                <a:latin typeface="Apple SD Gothic Neo"/>
              </a:rPr>
              <a:t>선박 데이터 별도 조회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971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7A00"/>
                </a:solidFill>
                <a:latin typeface="Apple SD Gothic Neo"/>
              </a:rPr>
              <a:t>0.5~1일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288018" y="2468880"/>
            <a:ext cx="137160" cy="27432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18320" y="1828800"/>
            <a:ext cx="2103120" cy="15544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18320" y="1828800"/>
            <a:ext cx="2103120" cy="4572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18745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</a:rPr>
              <a:t>단계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242316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2B5C"/>
                </a:solidFill>
                <a:latin typeface="Apple SD Gothic Neo"/>
              </a:rPr>
              <a:t>유상 견적·범위 산정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971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7A00"/>
                </a:solidFill>
                <a:latin typeface="Apple SD Gothic Neo"/>
              </a:rPr>
              <a:t>0.5~1일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703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PM 1척당 케이스 재구성 총 소요 시간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931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BD2D9"/>
                </a:solidFill>
                <a:latin typeface="Apple SD Gothic Neo"/>
              </a:rPr>
              <a:t>수기 메일 정리 기반 → 매번 처음부터 반복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703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600" b="1" i="0">
                <a:solidFill>
                  <a:srgbClr val="FFFFFF"/>
                </a:solidFill>
                <a:latin typeface="Apple SD Gothic Neo"/>
              </a:rPr>
              <a:t>3 ~ 8일 / 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결과 — 인계 지연 = LTSA 전환 기회 손실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pple SD Gothic Neo"/>
              </a:rPr>
              <a:t>▸ PM 1인이 동시 처리 가능한 선박 수 제한 (20~30척)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pple SD Gothic Neo"/>
              </a:rPr>
              <a:t>▸ LTSA 제안 발송 평균 2주~1개월 지연 → 선주는 그 사이 단발 견적으로 종결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Apple SD Gothic Neo"/>
              </a:rPr>
              <a:t>▸ 영업 기회 손실률 30~50% (지연 기인) — 인력 추가만으론 근본 해결 불가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본론 1 · Q1 — 매출 안정성 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OEM 3사 LCA 매출 비중 vs HMS 현재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8095"/>
                </a:solidFill>
                <a:latin typeface="Apple SD Gothic Neo"/>
              </a:rPr>
              <a:t>OEM 3사는 매출의 40~60%가 LCA(LTSA) — 안정·예측 가능. HMS는 5~10%로 단발 의존.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Apple SD Gothic Neo"/>
              </a:rPr>
              <a:t>OEM 3사 평균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042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8095"/>
                </a:solidFill>
                <a:latin typeface="Apple SD Gothic Neo"/>
              </a:rPr>
              <a:t>LCA/LTSA 매출 비중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057400"/>
            <a:ext cx="7772400" cy="5486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2057400"/>
            <a:ext cx="3886200" cy="54864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002B5C"/>
                </a:solidFill>
                <a:latin typeface="Apple SD Gothic Neo"/>
              </a:rPr>
              <a:t>40~60%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Apple SD Gothic Neo"/>
              </a:rPr>
              <a:t>HMS 현재 (추정)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186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8095"/>
                </a:solidFill>
                <a:latin typeface="Apple SD Gothic Neo"/>
              </a:rPr>
              <a:t>LCA/LTSA 매출 비중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971800"/>
            <a:ext cx="7772400" cy="5486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2971800"/>
            <a:ext cx="582930" cy="548640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6090" y="30175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708095"/>
                </a:solidFill>
                <a:latin typeface="Apple SD Gothic Neo"/>
              </a:rPr>
              <a:t>5~10%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Apple SD Gothic Neo"/>
              </a:rPr>
              <a:t>HMS 2030 목표 (본 제안)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33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8095"/>
                </a:solidFill>
                <a:latin typeface="Apple SD Gothic Neo"/>
              </a:rPr>
              <a:t>LCA/LTSA 매출 비중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886200"/>
            <a:ext cx="7772400" cy="5486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0" y="3886200"/>
            <a:ext cx="3886200" cy="548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9319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7A00"/>
                </a:solidFill>
                <a:latin typeface="Apple SD Gothic Neo"/>
              </a:rPr>
              <a:t>50%↑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109728" cy="6400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지표 비교 (OEM 3사 평균 → HMS 2030 목표)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Apple SD Gothic Neo"/>
              </a:rPr>
              <a:t>매출 예측 정확도  ±5%   ·   장기 고객 이탈률  &lt;5%   ·   선박당 연 LCA 수익  확보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708095"/>
                </a:solidFill>
                <a:latin typeface="Apple SD Gothic Neo"/>
              </a:rPr>
              <a:t>→ 2030년까지 LTSA 비중을 OEM 3사 수준으로 끌어올리는 것이 본 제안의 핵심 골자.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본론 2 · Q2 — LTSA 연계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무상 입구 → 데이터 자산 → 유상 출구 (4단계)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8095"/>
                </a:solidFill>
                <a:latin typeface="Apple SD Gothic Neo"/>
              </a:rPr>
              <a:t>선주의 무상 포털 사용 자체가 LTSA의 영업 도구가 됨 — 별도 영업 캠페인 불필요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606040" cy="32918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606040" cy="4572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7A00"/>
                </a:solidFill>
                <a:latin typeface="Apple SD Gothic Neo"/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2B5C"/>
                </a:solidFill>
                <a:latin typeface="Apple SD Gothic Neo"/>
              </a:rPr>
              <a:t>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7A00"/>
                </a:solidFill>
                <a:latin typeface="Apple SD Gothic Neo"/>
              </a:rPr>
              <a:t>인도 ~ 보증 1년차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205740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선주 입장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118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무상 포털 사용 시작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519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HMS 입장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805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데이터 자산 축적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81528" y="3200400"/>
            <a:ext cx="182880" cy="36576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46120" y="1828800"/>
            <a:ext cx="2606040" cy="32918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828800"/>
            <a:ext cx="2606040" cy="457200"/>
          </a:xfrm>
          <a:prstGeom prst="rect">
            <a:avLst/>
          </a:prstGeom>
          <a:solidFill>
            <a:srgbClr val="00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18745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7A00"/>
                </a:solidFill>
                <a:latin typeface="Apple SD Gothic Neo"/>
              </a:rPr>
              <a:t>Stage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3774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2B5C"/>
                </a:solidFill>
                <a:latin typeface="Apple SD Gothic Neo"/>
              </a:rPr>
              <a:t>신뢰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880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7A00"/>
                </a:solidFill>
                <a:latin typeface="Apple SD Gothic Neo"/>
              </a:rPr>
              <a:t>보증 1~2년차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3246120"/>
            <a:ext cx="205740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33832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선주 입장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6118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응답 속도·이력 일원화 체감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2519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HMS 입장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4805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AI 케이스 인계 가동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870448" y="3200400"/>
            <a:ext cx="182880" cy="36576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1828800"/>
            <a:ext cx="2606040" cy="32918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1828800"/>
            <a:ext cx="2606040" cy="4572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18745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7A00"/>
                </a:solidFill>
                <a:latin typeface="Apple SD Gothic Neo"/>
              </a:rPr>
              <a:t>Stage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23774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2B5C"/>
                </a:solidFill>
                <a:latin typeface="Apple SD Gothic Neo"/>
              </a:rPr>
              <a:t>전환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880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7A00"/>
                </a:solidFill>
                <a:latin typeface="Apple SD Gothic Neo"/>
              </a:rPr>
              <a:t>보증 종료 6개월 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246120"/>
            <a:ext cx="205740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3832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선주 입장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6118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LTSA 옵션 자동 안내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2519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HMS 입장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44805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예측 매출 사전 편입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659368" y="3200400"/>
            <a:ext cx="182880" cy="36576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23960" y="1828800"/>
            <a:ext cx="2606040" cy="32918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23960" y="1828800"/>
            <a:ext cx="2606040" cy="457200"/>
          </a:xfrm>
          <a:prstGeom prst="rect">
            <a:avLst/>
          </a:prstGeom>
          <a:solidFill>
            <a:srgbClr val="00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60" y="18745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7A00"/>
                </a:solidFill>
                <a:latin typeface="Apple SD Gothic Neo"/>
              </a:rPr>
              <a:t>Stage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23774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2B5C"/>
                </a:solidFill>
                <a:latin typeface="Apple SD Gothic Neo"/>
              </a:rPr>
              <a:t>운영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2880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7A00"/>
                </a:solidFill>
                <a:latin typeface="Apple SD Gothic Neo"/>
              </a:rPr>
              <a:t>보증 종료 후 N년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3246120"/>
            <a:ext cx="205740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20" y="33832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선주 입장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361188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구독+사건 LTSA 사용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42519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HMS 입장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0" y="44805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갱신 유도·매출 안정화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394960"/>
            <a:ext cx="11247120" cy="6400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440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전환 트리거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6509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ple SD Gothic Neo"/>
              </a:rPr>
              <a:t>보증 종료 · 고빈도 기술 문의 · HI-CMS 이상 감지 · 대형 케이스 발생 · 신규 선박 인도 — 5종이 활성화될 때 자동 LTSA 제안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08095"/>
                </a:solidFill>
                <a:latin typeface="Apple SD Gothic Neo"/>
              </a:rPr>
              <a:t>선주는 "가입 결정"을 하지 않음 — 자기 사용 패턴이 자동으로 LTSA 제안을 트리거함.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본론 2 · Q2 — LTSA 모델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구독형 / 사건 기반 / 하이브리드 — 선주·HMS 양쪽 효율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8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8095"/>
                </a:solidFill>
                <a:latin typeface="Apple SD Gothic Neo"/>
              </a:rPr>
              <a:t>결론: 하이브리드(기본료+초과 사용량) 모델이 양쪽 효율 모두 최대 — 본 제안의 권고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7033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703320" cy="548640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9280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ple SD Gothic Neo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874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구독형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214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ple SD Gothic Neo"/>
              </a:rPr>
              <a:t>Subscription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08095"/>
                </a:solidFill>
                <a:latin typeface="Apple SD Gothic Neo"/>
              </a:rPr>
              <a:t>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529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Apple SD Gothic Neo"/>
              </a:rPr>
              <a:t>연 정액 (선박당)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918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08095"/>
                </a:solidFill>
                <a:latin typeface="Apple SD Gothic Neo"/>
              </a:rPr>
              <a:t>선주 부담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387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Apple SD Gothic Neo"/>
              </a:rPr>
              <a:t>예측 가능 / 사용량 무관 부담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08095"/>
                </a:solidFill>
                <a:latin typeface="Apple SD Gothic Neo"/>
              </a:rPr>
              <a:t>HMS 매출 안정성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245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Apple SD Gothic Neo"/>
              </a:rPr>
              <a:t>매우 안정 (±5%)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08095"/>
                </a:solidFill>
                <a:latin typeface="Apple SD Gothic Neo"/>
              </a:rPr>
              <a:t>적합 대상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103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Apple SD Gothic Neo"/>
              </a:rPr>
              <a:t>소형 선주 적합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1828800"/>
            <a:ext cx="37033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1828800"/>
            <a:ext cx="3703320" cy="54864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89280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ple SD Gothic Neo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1874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사건 기반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1214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ple SD Gothic Neo"/>
              </a:rPr>
              <a:t>Pay-per-Service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6060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08095"/>
                </a:solidFill>
                <a:latin typeface="Apple SD Gothic Neo"/>
              </a:rPr>
              <a:t>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8529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Apple SD Gothic Neo"/>
              </a:rPr>
              <a:t>발생 시 청구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2918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08095"/>
                </a:solidFill>
                <a:latin typeface="Apple SD Gothic Neo"/>
              </a:rPr>
              <a:t>선주 부담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5387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Apple SD Gothic Neo"/>
              </a:rPr>
              <a:t>저사용 시 유리 / 변동 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9776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08095"/>
                </a:solidFill>
                <a:latin typeface="Apple SD Gothic Neo"/>
              </a:rPr>
              <a:t>HMS 매출 안정성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2245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Apple SD Gothic Neo"/>
              </a:rPr>
              <a:t>불안정 (±25%)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6634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08095"/>
                </a:solidFill>
                <a:latin typeface="Apple SD Gothic Neo"/>
              </a:rPr>
              <a:t>적합 대상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9103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Apple SD Gothic Neo"/>
              </a:rPr>
              <a:t>대형 자가정비 선주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1828800"/>
            <a:ext cx="37033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1828800"/>
            <a:ext cx="3703320" cy="548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189280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ple SD Gothic Neo"/>
              </a:rPr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18745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</a:rPr>
              <a:t>하이브리드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21214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ple SD Gothic Neo"/>
              </a:rPr>
              <a:t>Hybrid (권고)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26060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08095"/>
                </a:solidFill>
                <a:latin typeface="Apple SD Gothic Neo"/>
              </a:rPr>
              <a:t>구조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28529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기본료 + 초과 사용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2918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08095"/>
                </a:solidFill>
                <a:latin typeface="Apple SD Gothic Neo"/>
              </a:rPr>
              <a:t>선주 부담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5387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예측 가능 + 사용량 반영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9776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08095"/>
                </a:solidFill>
                <a:latin typeface="Apple SD Gothic Neo"/>
              </a:rPr>
              <a:t>HMS 매출 안정성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2245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안정 (±10%)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6634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08095"/>
                </a:solidFill>
                <a:latin typeface="Apple SD Gothic Neo"/>
              </a:rPr>
              <a:t>적합 대상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91032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전 선주 기본 권고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5669280"/>
            <a:ext cx="109728" cy="6400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715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권고 한 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Apple SD Gothic Neo"/>
              </a:rPr>
              <a:t>기본료로 매출 안정성 확보 + 실제 사용량(원격진단·부품·엔지니어 파견)은 별도 정산 — 양쪽 효율 동시 충족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본론 3 · Q3 — AI 케이스 인계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케이스 종료 시점, AI가 PM에게 자동 인계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9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8095"/>
                </a:solidFill>
                <a:latin typeface="Apple SD Gothic Neo"/>
              </a:rPr>
              <a:t>PM이 메일을 뒤지지 않고도 LTSA 제안에 필요한 정보를 즉시 받음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103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457200" cy="1691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659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케이스 종료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06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8095"/>
                </a:solidFill>
                <a:latin typeface="Apple SD Gothic Neo"/>
              </a:rPr>
              <a:t>기술지원 엔지니어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Apple SD Gothic Neo"/>
              </a:rPr>
              <a:t>0초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60320" y="2560320"/>
            <a:ext cx="164592" cy="274320"/>
          </a:xfrm>
          <a:prstGeom prst="rightArrow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24912" y="1828800"/>
            <a:ext cx="2103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24912" y="1828800"/>
            <a:ext cx="457200" cy="1691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1828800"/>
            <a:ext cx="45720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19659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AI 요약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2606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8095"/>
                </a:solidFill>
                <a:latin typeface="Apple SD Gothic Neo"/>
              </a:rPr>
              <a:t>AI 에이전트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29260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Apple SD Gothic Neo"/>
              </a:rPr>
              <a:t>5~10초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28032" y="2560320"/>
            <a:ext cx="164592" cy="274320"/>
          </a:xfrm>
          <a:prstGeom prst="rightArrow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92624" y="1828800"/>
            <a:ext cx="2103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92624" y="1828800"/>
            <a:ext cx="457200" cy="1691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92624" y="1828800"/>
            <a:ext cx="45720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1264" y="19659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PM 대시보드 푸시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1264" y="2606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8095"/>
                </a:solidFill>
                <a:latin typeface="Apple SD Gothic Neo"/>
              </a:rPr>
              <a:t>시스템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29260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Apple SD Gothic Neo"/>
              </a:rPr>
              <a:t>실시간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095744" y="2560320"/>
            <a:ext cx="164592" cy="274320"/>
          </a:xfrm>
          <a:prstGeom prst="rightArrow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60336" y="1828800"/>
            <a:ext cx="2103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0336" y="1828800"/>
            <a:ext cx="457200" cy="1691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1828800"/>
            <a:ext cx="45720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08976" y="19659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PM 검토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08976" y="2606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8095"/>
                </a:solidFill>
                <a:latin typeface="Apple SD Gothic Neo"/>
              </a:rPr>
              <a:t>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08976" y="29260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Apple SD Gothic Neo"/>
              </a:rPr>
              <a:t>5~15분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363456" y="2560320"/>
            <a:ext cx="164592" cy="274320"/>
          </a:xfrm>
          <a:prstGeom prst="rightArrow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28048" y="1828800"/>
            <a:ext cx="2103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28048" y="1828800"/>
            <a:ext cx="457200" cy="1691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28048" y="1828800"/>
            <a:ext cx="45720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ple SD Gothic Neo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6688" y="19659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LTSA 제안 발송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6688" y="2606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08095"/>
                </a:solidFill>
                <a:latin typeface="Apple SD Gothic Neo"/>
              </a:rPr>
              <a:t>PM (자동 템플릿)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76688" y="29260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Apple SD Gothic Neo"/>
              </a:rPr>
              <a:t>실시간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749039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  <a:latin typeface="Apple SD Gothic Neo"/>
              </a:rPr>
              <a:t>AI 요약이 자동 생성하는 7개 항목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206240"/>
            <a:ext cx="1554480" cy="5029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2062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① 장비·부위 (계통 분류)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4206240"/>
            <a:ext cx="1554480" cy="5029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48840" y="42062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② 증상 요약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4206240"/>
            <a:ext cx="1554480" cy="5029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0" y="42062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③ 진단 결과 (Tier 1~4 종합)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57800" y="4206240"/>
            <a:ext cx="1554480" cy="5029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49240" y="42062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④ 임시 조치 내역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0" y="4206240"/>
            <a:ext cx="1554480" cy="5029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42062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⑤ 잔여 리스크 평가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58200" y="4206240"/>
            <a:ext cx="1554480" cy="5029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42062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⑥ LTSA 권고 액션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58400" y="4206240"/>
            <a:ext cx="1554480" cy="5029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49840" y="42062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⑦ 매출 기회 추정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983480"/>
            <a:ext cx="11247120" cy="8686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총 소요 시간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349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2D9"/>
                </a:solidFill>
                <a:latin typeface="Apple SD Gothic Neo"/>
              </a:rPr>
              <a:t>수기 PM 정리 → 3 ~ 8일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5074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F7A00"/>
                </a:solidFill>
                <a:latin typeface="Apple SD Gothic Neo"/>
              </a:rPr>
              <a:t>AI 인계 적용 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53492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 i="0">
                <a:solidFill>
                  <a:srgbClr val="FFFFFF"/>
                </a:solidFill>
                <a:latin typeface="Apple SD Gothic Neo"/>
              </a:rPr>
              <a:t>15 ~ 30분 (99% 감축)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08095"/>
                </a:solidFill>
                <a:latin typeface="Apple SD Gothic Neo"/>
              </a:rPr>
              <a:t>→ PM 1인당 동시 처리 가능 선박 5~7배 증가  ·  LTSA 제안 발송 지연 평균 2주 → 실시간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본론 3 · Q3 — AI 인계 정량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PM 처리 능력과 매출 기회의 동시 점프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10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8095"/>
                </a:solidFill>
                <a:latin typeface="Apple SD Gothic Neo"/>
              </a:rPr>
              <a:t>Before(수기 인계) vs After(AI 인계) — 6개 핵심 지표 비교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325880"/>
            <a:ext cx="274320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3075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Before (수기)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325880"/>
            <a:ext cx="274320" cy="16459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78440" y="130759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After (AI 인계)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55648"/>
            <a:ext cx="11247120" cy="55778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01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PM 1인당 동시 처리 선박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1819656"/>
            <a:ext cx="382676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2029968"/>
            <a:ext cx="5669280" cy="1828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7830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08095"/>
                </a:solidFill>
                <a:latin typeface="Apple SD Gothic Neo"/>
              </a:rPr>
              <a:t>20~30척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0116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150~200척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468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케이스 인계 소요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386584"/>
            <a:ext cx="2423617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66160" y="2596896"/>
            <a:ext cx="226771" cy="1828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35000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08095"/>
                </a:solidFill>
                <a:latin typeface="Apple SD Gothic Neo"/>
              </a:rPr>
              <a:t>3~8일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57860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15~30분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89504"/>
            <a:ext cx="11247120" cy="55778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358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LTSA 제안 발송 지연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2953512"/>
            <a:ext cx="2551176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66160" y="3163824"/>
            <a:ext cx="113385" cy="1828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91693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08095"/>
                </a:solidFill>
                <a:latin typeface="Apple SD Gothic Neo"/>
              </a:rPr>
              <a:t>평균 2주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14553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실시간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6027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PM 1인당 연 LTSA 제안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3520440"/>
            <a:ext cx="382676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66160" y="3730752"/>
            <a:ext cx="5669280" cy="1828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3483864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08095"/>
                </a:solidFill>
                <a:latin typeface="Apple SD Gothic Neo"/>
              </a:rPr>
              <a:t>40~60건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712464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300~400건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23360"/>
            <a:ext cx="11247120" cy="55778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16966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AI 요약 신뢰도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4087368"/>
            <a:ext cx="1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66160" y="4297680"/>
            <a:ext cx="5385816" cy="1828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4050792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08095"/>
                </a:solidFill>
                <a:latin typeface="Apple SD Gothic Neo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279392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95%+ (검토 5분)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73659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영업 기회 손실률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4654296"/>
            <a:ext cx="2551176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566160" y="4864608"/>
            <a:ext cx="283464" cy="1828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461772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08095"/>
                </a:solidFill>
                <a:latin typeface="Apple SD Gothic Neo"/>
              </a:rPr>
              <a:t>30~50%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84632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5% 이하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623560"/>
            <a:ext cx="109728" cy="6400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669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정량 효과 한 줄 요약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</a:rPr>
              <a:t>처리 능력 ×5~7   ·   인계 시간 ↓99%   ·   제안 지연 ↓99%   ·   영업 기회 손실 1/10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본론 4 · Q4 — HI-CMS 통합 알림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선주를 "와야 하는 사람"으로 전환하는 자석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11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8095"/>
                </a:solidFill>
                <a:latin typeface="Apple SD Gothic Neo"/>
              </a:rPr>
              <a:t>HI-CMS = HI-ODS(운영 데이터) + ISS(통합 스마트 선박) — 풍부한 데이터를 선주에게 가공 알림으로 도달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2697480" cy="18288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2697480" cy="4114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28216"/>
            <a:ext cx="26974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7A00"/>
                </a:solidFill>
                <a:latin typeface="Apple SD Gothic Neo"/>
              </a:rPr>
              <a:t>단계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Apple SD Gothic Neo"/>
              </a:rPr>
              <a:t>이상 감지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7A00"/>
                </a:solidFill>
                <a:latin typeface="Apple SD Gothic Neo"/>
              </a:rPr>
              <a:t>HI-CMS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620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Apple SD Gothic Neo"/>
              </a:rPr>
              <a:t>임계치 초과 / 학습 모델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72968"/>
            <a:ext cx="214884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9544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002B5C"/>
                </a:solidFill>
                <a:latin typeface="Apple SD Gothic Neo"/>
              </a:rPr>
              <a:t>← (선주는 모름)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54680" y="2468880"/>
            <a:ext cx="137160" cy="27432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691640"/>
            <a:ext cx="2697480" cy="18288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691640"/>
            <a:ext cx="2697480" cy="4114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1728216"/>
            <a:ext cx="26974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7A00"/>
                </a:solidFill>
                <a:latin typeface="Apple SD Gothic Neo"/>
              </a:rPr>
              <a:t>단계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14884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Apple SD Gothic Neo"/>
              </a:rPr>
              <a:t>웹 알림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6060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7A00"/>
                </a:solidFill>
                <a:latin typeface="Apple SD Gothic Neo"/>
              </a:rPr>
              <a:t>포털 + 모바일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8620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Apple SD Gothic Neo"/>
              </a:rPr>
              <a:t>푸시 + 메일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3172968"/>
            <a:ext cx="214884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209544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002B5C"/>
                </a:solidFill>
                <a:latin typeface="Apple SD Gothic Neo"/>
              </a:rPr>
              <a:t>← 선주 알림 클릭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89320" y="2468880"/>
            <a:ext cx="137160" cy="27432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691640"/>
            <a:ext cx="2697480" cy="18288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691640"/>
            <a:ext cx="2697480" cy="4114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1728216"/>
            <a:ext cx="26974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7A00"/>
                </a:solidFill>
                <a:latin typeface="Apple SD Gothic Neo"/>
              </a:rPr>
              <a:t>단계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14884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Apple SD Gothic Neo"/>
              </a:rPr>
              <a:t>케이스 자동 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6060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7A00"/>
                </a:solidFill>
                <a:latin typeface="Apple SD Gothic Neo"/>
              </a:rPr>
              <a:t>시스템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8620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Apple SD Gothic Neo"/>
              </a:rPr>
              <a:t>데이터·이력 자동 첨부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172968"/>
            <a:ext cx="214884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209544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002B5C"/>
                </a:solidFill>
                <a:latin typeface="Apple SD Gothic Neo"/>
              </a:rPr>
              <a:t>← 기술지원 즉시 시작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823960" y="2468880"/>
            <a:ext cx="137160" cy="27432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61120" y="1691640"/>
            <a:ext cx="2697480" cy="18288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1691640"/>
            <a:ext cx="2697480" cy="4114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1728216"/>
            <a:ext cx="26974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7A00"/>
                </a:solidFill>
                <a:latin typeface="Apple SD Gothic Neo"/>
              </a:rPr>
              <a:t>단계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214884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2B5C"/>
                </a:solidFill>
                <a:latin typeface="Apple SD Gothic Neo"/>
              </a:rPr>
              <a:t>LTSA 트리거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26060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7A00"/>
                </a:solidFill>
                <a:latin typeface="Apple SD Gothic Neo"/>
              </a:rPr>
              <a:t>AI 인계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28620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Apple SD Gothic Neo"/>
              </a:rPr>
              <a:t>예측정비 LTSA 제안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3172968"/>
            <a:ext cx="214884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3209544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002B5C"/>
                </a:solidFill>
                <a:latin typeface="Apple SD Gothic Neo"/>
              </a:rPr>
              <a:t>← 선주 클릭 1회로 진행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B5C"/>
                </a:solidFill>
                <a:latin typeface="Apple SD Gothic Neo"/>
              </a:rPr>
              <a:t>알림 트리거 예시 (실제 적용 가능 시나리오)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114800"/>
            <a:ext cx="2240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4114800"/>
            <a:ext cx="2240280" cy="4114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16052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연료 효율 저하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46177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08095"/>
                </a:solidFill>
                <a:latin typeface="Apple SD Gothic Neo"/>
              </a:rPr>
              <a:t>감지 신호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482803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주행/연료 5%↓ 지속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1023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→ 정기 정비 LTSA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4114800"/>
            <a:ext cx="2240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43200" y="4114800"/>
            <a:ext cx="2240280" cy="4114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0" y="416052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엔진 진동 증가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0360" y="46177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08095"/>
                </a:solidFill>
                <a:latin typeface="Apple SD Gothic Neo"/>
              </a:rPr>
              <a:t>감지 신호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80360" y="482803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진동 +15% 이상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80360" y="51023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→ 예측정비 LTSA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0" y="4114800"/>
            <a:ext cx="2240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4114800"/>
            <a:ext cx="2240280" cy="4114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0640" y="416052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윤활유 이상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360" y="46177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08095"/>
                </a:solidFill>
                <a:latin typeface="Apple SD Gothic Neo"/>
              </a:rPr>
              <a:t>감지 신호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66360" y="482803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오일 분석 + 압력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66360" y="51023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→ 소모품 LTSA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0" y="4114800"/>
            <a:ext cx="2240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0" y="4114800"/>
            <a:ext cx="2240280" cy="4114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06640" y="416052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DPS 결함 신호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52360" y="46177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08095"/>
                </a:solidFill>
                <a:latin typeface="Apple SD Gothic Neo"/>
              </a:rPr>
              <a:t>감지 신호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52360" y="482803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자가진단 코드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52360" y="51023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→ 긴급 LTSA + 부품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01200" y="4114800"/>
            <a:ext cx="2240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601200" y="4114800"/>
            <a:ext cx="2240280" cy="4114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92640" y="416052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</a:rPr>
              <a:t>배기·NOx 임계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38360" y="46177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08095"/>
                </a:solidFill>
                <a:latin typeface="Apple SD Gothic Neo"/>
              </a:rPr>
              <a:t>감지 신호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38360" y="482803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센서 + 운항 패턴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38360" y="51023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→ 규제 대응 LTSA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1">
                <a:solidFill>
                  <a:srgbClr val="002B5C"/>
                </a:solidFill>
                <a:latin typeface="Apple SD Gothic Neo"/>
              </a:rPr>
              <a:t>핵심: HI-CMS 알림은 "선주가 안 와도 됐던 영역"을 "즉시 확인하게 만드는 영역"으로 바꾼다.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본론 5 · Q5 — 2030 중장기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5-Phase 단계별 게이트와 KPI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12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8095"/>
                </a:solidFill>
                <a:latin typeface="Apple SD Gothic Neo"/>
              </a:rPr>
              <a:t>PoC(2026) → 정착(2027) → 확장(2028) → 통합(2029) → 안정(2030)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240280" cy="32918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240280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928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2B5C"/>
                </a:solidFill>
                <a:latin typeface="Apple SD Gothic Neo"/>
              </a:rPr>
              <a:t>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7A00"/>
                </a:solidFill>
                <a:latin typeface="Apple SD Gothic Neo"/>
              </a:rPr>
              <a:t>2026 1H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187452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핵심 과업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11880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무상 웹 + AI PoC + 알림 1종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72000"/>
            <a:ext cx="187452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6177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KPI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18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10~20개사 Beta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52344" y="1828800"/>
            <a:ext cx="2240280" cy="32918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52344" y="1828800"/>
            <a:ext cx="2240280" cy="5029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52344" y="18928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3784" y="242316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2B5C"/>
                </a:solidFill>
                <a:latin typeface="Apple SD Gothic Neo"/>
              </a:rPr>
              <a:t>정착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3784" y="29260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7A00"/>
                </a:solidFill>
                <a:latin typeface="Apple SD Gothic Neo"/>
              </a:rPr>
              <a:t>2026 2H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35224" y="3291840"/>
            <a:ext cx="187452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9504" y="33832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핵심 과업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9504" y="3611880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AI 신뢰도 95% / 알림 5종 / LTSA 자동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35224" y="4572000"/>
            <a:ext cx="187452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9504" y="46177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KPI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9504" y="4818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월 LTSA 제안 100↑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47488" y="1828800"/>
            <a:ext cx="2240280" cy="32918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47488" y="1828800"/>
            <a:ext cx="2240280" cy="50292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7488" y="18928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</a:rPr>
              <a:t>Phase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8928" y="242316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2B5C"/>
                </a:solidFill>
                <a:latin typeface="Apple SD Gothic Neo"/>
              </a:rPr>
              <a:t>확장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29260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7A00"/>
                </a:solidFill>
                <a:latin typeface="Apple SD Gothic Neo"/>
              </a:rPr>
              <a:t>2027~2028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30368" y="3291840"/>
            <a:ext cx="187452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84648" y="33832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핵심 과업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4648" y="3611880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전 무상 선주 / 하이브리드 정식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30368" y="4572000"/>
            <a:ext cx="187452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84648" y="46177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KPI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4818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LTSA 비중 20~30%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42632" y="1828800"/>
            <a:ext cx="2240280" cy="32918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42632" y="1828800"/>
            <a:ext cx="2240280" cy="50292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42632" y="18928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</a:rPr>
              <a:t>Phase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4072" y="242316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2B5C"/>
                </a:solidFill>
                <a:latin typeface="Apple SD Gothic Neo"/>
              </a:rPr>
              <a:t>통합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34072" y="29260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7A00"/>
                </a:solidFill>
                <a:latin typeface="Apple SD Gothic Neo"/>
              </a:rPr>
              <a:t>2028~2029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25512" y="3291840"/>
            <a:ext cx="187452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79792" y="33832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핵심 과업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79792" y="3611880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HI-CMS 전 선박 / 예측정비 LTSA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4572000"/>
            <a:ext cx="187452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79792" y="46177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KPI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9792" y="4818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LTSA 비중 35~40%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37776" y="1828800"/>
            <a:ext cx="2240280" cy="329184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37776" y="1828800"/>
            <a:ext cx="2240280" cy="50292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37776" y="18928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ple SD Gothic Neo"/>
              </a:rPr>
              <a:t>Phase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29216" y="242316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2B5C"/>
                </a:solidFill>
                <a:latin typeface="Apple SD Gothic Neo"/>
              </a:rPr>
              <a:t>안정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29216" y="29260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7A00"/>
                </a:solidFill>
                <a:latin typeface="Apple SD Gothic Neo"/>
              </a:rPr>
              <a:t>2030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20656" y="3291840"/>
            <a:ext cx="187452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74936" y="33832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핵심 과업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74936" y="3611880"/>
            <a:ext cx="1965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플릿 단위 LTSA 패키지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20656" y="4572000"/>
            <a:ext cx="187452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74936" y="46177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08095"/>
                </a:solidFill>
                <a:latin typeface="Apple SD Gothic Neo"/>
              </a:rPr>
              <a:t>KPI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74936" y="4818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LTSA 비중 50%↑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5349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Apple SD Gothic Neo"/>
              </a:rPr>
              <a:t>단계별 의사결정 게이트 (Go / No-Go)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5760720"/>
            <a:ext cx="2788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7200" y="5760720"/>
            <a:ext cx="73152" cy="548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" y="5760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G1 · AI 신뢰도 90%↑ + PM 만족도 4.0↑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91840" y="5760720"/>
            <a:ext cx="2788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91840" y="5760720"/>
            <a:ext cx="73152" cy="548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56432" y="5760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G2 · Closed Beta 갱신율 80%↑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26480" y="5760720"/>
            <a:ext cx="2788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6480" y="5760720"/>
            <a:ext cx="73152" cy="548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91072" y="5760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G3 · LTSA 비중 20%↑ + 매출 예측 ±15%↓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61120" y="5760720"/>
            <a:ext cx="2788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961120" y="5760720"/>
            <a:ext cx="73152" cy="548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25712" y="5760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G4 · LTSA 비중 35%↑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본론 5 · Q5 — 매출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2026 → 2030: LTSA 비중 5% → 50%↑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13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8095"/>
                </a:solidFill>
                <a:latin typeface="Apple SD Gothic Neo"/>
              </a:rPr>
              <a:t>보수 가정 — 적용 가능 모집단 5,900척, 단가 OEM 3사 LCA 70%, 선주 옵트인 단계 확대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2B5C"/>
                </a:solidFill>
                <a:latin typeface="Apple SD Gothic Neo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938528"/>
            <a:ext cx="7315200" cy="25603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1938528"/>
            <a:ext cx="365760" cy="256032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874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828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08095"/>
                </a:solidFill>
                <a:latin typeface="Apple SD Gothic Neo"/>
              </a:rPr>
              <a:t>가입 척수 (누적)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0299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50~100척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420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2B5C"/>
                </a:solidFill>
                <a:latin typeface="Apple SD Gothic Neo"/>
              </a:rPr>
              <a:t>2027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560320"/>
            <a:ext cx="7315200" cy="25603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2560320"/>
            <a:ext cx="950976" cy="256032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8416" y="24963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10~15%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4505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08095"/>
                </a:solidFill>
                <a:latin typeface="Apple SD Gothic Neo"/>
              </a:rPr>
              <a:t>가입 척수 (누적)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6517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500~800척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6382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2B5C"/>
                </a:solidFill>
                <a:latin typeface="Apple SD Gothic Neo"/>
              </a:rPr>
              <a:t>2028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182112"/>
            <a:ext cx="7315200" cy="25603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3182112"/>
            <a:ext cx="1828800" cy="256032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11810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20~30%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0723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08095"/>
                </a:solidFill>
                <a:latin typeface="Apple SD Gothic Neo"/>
              </a:rPr>
              <a:t>가입 척수 (누적)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2735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1,500~2,000척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8561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2B5C"/>
                </a:solidFill>
                <a:latin typeface="Apple SD Gothic Neo"/>
              </a:rPr>
              <a:t>2029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803904"/>
            <a:ext cx="7315200" cy="25603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0" y="3803904"/>
            <a:ext cx="2779776" cy="256032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57216" y="373989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35~40%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69417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08095"/>
                </a:solidFill>
                <a:latin typeface="Apple SD Gothic Neo"/>
              </a:rPr>
              <a:t>가입 척수 (누적)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895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2,500~3,500척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4074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2B5C"/>
                </a:solidFill>
                <a:latin typeface="Apple SD Gothic Neo"/>
              </a:rPr>
              <a:t>2030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4425696"/>
            <a:ext cx="7315200" cy="25603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0" y="4425696"/>
            <a:ext cx="3803904" cy="25603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1344" y="43616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Apple SD Gothic Neo"/>
              </a:rPr>
              <a:t>50%↑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3159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08095"/>
                </a:solidFill>
                <a:latin typeface="Apple SD Gothic Neo"/>
              </a:rPr>
              <a:t>가입 척수 (누적)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451713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4,000~5,000척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5074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708095"/>
                </a:solidFill>
                <a:latin typeface="Apple SD Gothic Neo"/>
              </a:rPr>
              <a:t>← 2026 5%                                                        2030  50%↑  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394960"/>
            <a:ext cx="2788920" cy="71323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394960"/>
            <a:ext cx="73152" cy="71323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43153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2B5C"/>
                </a:solidFill>
                <a:latin typeface="Apple SD Gothic Neo"/>
              </a:rPr>
              <a:t>9,890척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3080" y="5440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전체 모집단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3080" y="570585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08095"/>
                </a:solidFill>
                <a:latin typeface="Apple SD Gothic Neo"/>
              </a:rPr>
              <a:t>HD현대 건조선 + AS 기존 선주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5394960"/>
            <a:ext cx="2788920" cy="71323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91840" y="5394960"/>
            <a:ext cx="73152" cy="71323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0" y="543153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2B5C"/>
                </a:solidFill>
                <a:latin typeface="Apple SD Gothic Neo"/>
              </a:rPr>
              <a:t>5,900척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5440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LTSA 적용 가능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570585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08095"/>
                </a:solidFill>
                <a:latin typeface="Apple SD Gothic Neo"/>
              </a:rPr>
              <a:t>전체의 약 60%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5394960"/>
            <a:ext cx="2788920" cy="71323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0" y="5394960"/>
            <a:ext cx="73152" cy="71323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543153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2B5C"/>
                </a:solidFill>
                <a:latin typeface="Apple SD Gothic Neo"/>
              </a:rPr>
              <a:t>70%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5440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단가 가정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570585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08095"/>
                </a:solidFill>
                <a:latin typeface="Apple SD Gothic Neo"/>
              </a:rPr>
              <a:t>OEM 3사 LCA 평균 대비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61120" y="5394960"/>
            <a:ext cx="2788920" cy="713232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61120" y="5394960"/>
            <a:ext cx="73152" cy="71323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0" y="543153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2B5C"/>
                </a:solidFill>
                <a:latin typeface="Apple SD Gothic Neo"/>
              </a:rPr>
              <a:t>±5%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87000" y="5440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2B5C"/>
                </a:solidFill>
                <a:latin typeface="Apple SD Gothic Neo"/>
              </a:rPr>
              <a:t>2030 매출 예측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87000" y="570585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08095"/>
                </a:solidFill>
                <a:latin typeface="Apple SD Gothic Neo"/>
              </a:rPr>
              <a:t>OEM 3사 수준 안정성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172200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708095"/>
                </a:solidFill>
                <a:latin typeface="Apple SD Gothic Neo"/>
              </a:rPr>
              <a:t>※ Phase 1 PoC 종료 시점에 실측 데이터로 재보정 예정.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본론 6 — 업무 프로세스 개선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Before / After 종합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14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8095"/>
                </a:solidFill>
                <a:latin typeface="Apple SD Gothic Neo"/>
              </a:rPr>
              <a:t>1차 목표는 매출 증대(LTSA 50%↑) — 그 과정에서 R&amp;R·KPI·데이터 활용 모두 자동 개선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325880"/>
            <a:ext cx="274320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3075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Before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325880"/>
            <a:ext cx="274320" cy="164592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78440" y="130759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After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64792"/>
            <a:ext cx="11247120" cy="53949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019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PM 1척당 케이스 재구성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1819656"/>
            <a:ext cx="2384526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2029968"/>
            <a:ext cx="223113" cy="1828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17830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08095"/>
                </a:solidFill>
                <a:latin typeface="Apple SD Gothic Neo"/>
              </a:rPr>
              <a:t>3~8일 (메일 수기)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20116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15~30분 (AI 자동)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4505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LTSA 제안 발송 지연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368296"/>
            <a:ext cx="2510028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49039" y="2578608"/>
            <a:ext cx="111556" cy="1828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233172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08095"/>
                </a:solidFill>
                <a:latin typeface="Apple SD Gothic Neo"/>
              </a:rPr>
              <a:t>평균 2주~1개월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56032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실시간 (케이스 종료 직후)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62072"/>
            <a:ext cx="11247120" cy="53949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9992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HI-CMS 활용률 (선주 노출)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2916936"/>
            <a:ext cx="1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3127248"/>
            <a:ext cx="5577840" cy="1828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19" y="288036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08095"/>
                </a:solidFill>
                <a:latin typeface="Apple SD Gothic Neo"/>
              </a:rPr>
              <a:t>0% (사내 한정)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310896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100% (이상 감지 즉시)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54787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LTSA 매출 비중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3465576"/>
            <a:ext cx="251002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9039" y="3675888"/>
            <a:ext cx="5577840" cy="1828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19" y="342900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08095"/>
                </a:solidFill>
                <a:latin typeface="Apple SD Gothic Neo"/>
              </a:rPr>
              <a:t>5~10%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19" y="365760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50%↑ (2030)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959352"/>
            <a:ext cx="11247120" cy="539496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0965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매출 예측 정확도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4014216"/>
            <a:ext cx="2510028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49039" y="4224528"/>
            <a:ext cx="557784" cy="1828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19" y="397764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08095"/>
                </a:solidFill>
                <a:latin typeface="Apple SD Gothic Neo"/>
              </a:rPr>
              <a:t>±25% (단발성 의존)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19" y="420624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±5% (OEM 3사 수준)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6451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선주 이탈 리스크 측정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39" y="4562856"/>
            <a:ext cx="1" cy="164592"/>
          </a:xfrm>
          <a:prstGeom prst="rect">
            <a:avLst/>
          </a:prstGeom>
          <a:solidFill>
            <a:srgbClr val="708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49039" y="4773168"/>
            <a:ext cx="5577840" cy="1828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19" y="45262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08095"/>
                </a:solidFill>
                <a:latin typeface="Apple SD Gothic Neo"/>
              </a:rPr>
              <a:t>측정 불가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19" y="47548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갱신율·이탈율 실측 가능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623560"/>
            <a:ext cx="109728" cy="6400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669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한 줄 요약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</a:rPr>
              <a:t>PM 처리 능력 ×5~7   ·   LTSA 매출 비중 ×10   ·   매출 예측 정확도 5배 향상   ·   HI-CMS 활용률 0 → 100%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4가지 메커니즘, 하나의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15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08095"/>
                </a:solidFill>
                <a:latin typeface="Apple SD Gothic Neo"/>
              </a:rPr>
              <a:t>별도 영업 캠페인·신규 시장 진출·신규 인력 일괄 투입 없이, 이미 보유한 자산을 "연결"만 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743200" cy="25603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</a:rPr>
              <a:t>입구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7A00"/>
                </a:solidFill>
                <a:latin typeface="Apple SD Gothic Neo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무상 기술지원 포털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219456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선주가 자연스럽게 들어오는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단일 창구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00400" y="3017520"/>
            <a:ext cx="91440" cy="27432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828800"/>
            <a:ext cx="2743200" cy="25603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828800"/>
            <a:ext cx="2743200" cy="457200"/>
          </a:xfrm>
          <a:prstGeom prst="rect">
            <a:avLst/>
          </a:prstGeom>
          <a:solidFill>
            <a:srgbClr val="00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874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</a:rPr>
              <a:t>통로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4688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96A0"/>
                </a:solidFill>
                <a:latin typeface="Apple SD Gothic Neo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AI 케이스 인계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3246120"/>
            <a:ext cx="219456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3832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PM이 메일을 뒤지지 않고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즉시 LTSA 제안 가능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035040" y="3017520"/>
            <a:ext cx="91440" cy="27432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828800"/>
            <a:ext cx="2743200" cy="25603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828800"/>
            <a:ext cx="2743200" cy="4572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874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</a:rPr>
              <a:t>통로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4688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B5C"/>
                </a:solidFill>
                <a:latin typeface="Apple SD Gothic Neo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HI-CMS 통합 알림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246120"/>
            <a:ext cx="219456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3832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선주가 안 와도 됐던 영역을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"와야 하는 영역"으로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869680" y="3017520"/>
            <a:ext cx="91440" cy="27432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61120" y="1828800"/>
            <a:ext cx="2743200" cy="256032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61120" y="1828800"/>
            <a:ext cx="2743200" cy="4572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1874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</a:rPr>
              <a:t>출구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4688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7A00"/>
                </a:solidFill>
                <a:latin typeface="Apple SD Gothic Neo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2514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B5C"/>
                </a:solidFill>
                <a:latin typeface="Apple SD Gothic Neo"/>
              </a:rPr>
              <a:t>LTSA 자연 전환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3246120"/>
            <a:ext cx="2194560" cy="1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33832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단발 매출 →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안정적 구독+사건 하이브리드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663440"/>
            <a:ext cx="11247120" cy="169164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663440"/>
            <a:ext cx="137160" cy="1691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754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단 한 줄의 약속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029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1">
                <a:solidFill>
                  <a:srgbClr val="FFFFFF"/>
                </a:solidFill>
                <a:latin typeface="Apple SD Gothic Neo"/>
              </a:rPr>
              <a:t>"메일을 열던 그 손이, 자연스럽게 LTSA 제안을 클릭하는 순간을 만든다."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15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BD2D9"/>
                </a:solidFill>
                <a:latin typeface="Apple SD Gothic Neo"/>
              </a:rPr>
              <a:t>회사 주제 두 가지 — 중장기 매출 증대 + 업무 프로세스 개선 — 동시 달성.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7A00"/>
                </a:solidFill>
                <a:latin typeface="Apple SD Gothic Neo"/>
              </a:rPr>
              <a:t>→ 2030년: LTSA 비중 50%↑  ·  매출 예측 정확도 ±5%  ·  PM 처리 능력 ×5~7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부록 — 발표 시간 + 핵심 질문 답변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10분 발표 구간별 메시지 + Q1~Q5 1줄 답변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16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ple SD Gothic Neo"/>
              </a:rPr>
              <a:t>발표 시간 배분 (10분)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5486400" cy="4572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0:00~1:00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8745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서론 — 두 주제 통합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3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1:00~3:00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37743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본론 1 — 단절·PM 부담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80359"/>
            <a:ext cx="5486400" cy="4572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8035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3:00~4:30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88035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본론 2 — LTSA 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8327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4:30~6:30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38327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본론 3 — AI 인계 효과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86199"/>
            <a:ext cx="5486400" cy="4572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8619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6:30~7:30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88619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본론 4 — HI-CMS 알림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8911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7:30~9:00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3891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본론 5 — 2030 로드맵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92039"/>
            <a:ext cx="5486400" cy="4572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9203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Apple SD Gothic Neo"/>
              </a:rPr>
              <a:t>9:00~10:00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89203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결론 + Q&amp;A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371600"/>
            <a:ext cx="5577840" cy="4572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4173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ple SD Gothic Neo"/>
              </a:rPr>
              <a:t>5개 질문 1줄 답변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874519"/>
            <a:ext cx="5577840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1874519"/>
            <a:ext cx="640080" cy="6400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187451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</a:rPr>
              <a:t>Q1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19202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왜 LTSA?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167127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OEM 3사가 매출 안정성 확보한 유일 구조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587751"/>
            <a:ext cx="5577840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2587751"/>
            <a:ext cx="640080" cy="6400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2587751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</a:rPr>
              <a:t>Q2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633471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단절 해소?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88035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무상 포털 자체가 LTSA 영업 도구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300983"/>
            <a:ext cx="5577840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3300983"/>
            <a:ext cx="640080" cy="6400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3300983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</a:rPr>
              <a:t>Q3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3467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AI 효과?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593591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3~8일 → 15~30분 (99% 시간 단축)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4014215"/>
            <a:ext cx="5577840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26480" y="4014215"/>
            <a:ext cx="640080" cy="6400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4014215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</a:rPr>
              <a:t>Q4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059935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HI-CMS 역할?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4306823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이상→웹 알림→케이스→LTSA (클릭 1회)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4727447"/>
            <a:ext cx="5577840" cy="6400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0" y="4727447"/>
            <a:ext cx="640080" cy="64008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4727447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</a:rPr>
              <a:t>Q5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4773167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Apple SD Gothic Neo"/>
              </a:rPr>
              <a:t>2030 도달?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5020055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pple SD Gothic Neo"/>
              </a:rPr>
              <a:t>5-Phase / LTSA 비중 5% → 50%↑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13716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Apple SD Gothic Neo"/>
              </a:rPr>
              <a:t>부록 — 예상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2B5C"/>
                </a:solidFill>
                <a:latin typeface="Apple SD Gothic Neo"/>
              </a:rPr>
              <a:t>임원 질의 대응 6선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BD2D9"/>
                </a:solidFill>
                <a:latin typeface="Apple SD Gothic Neo"/>
              </a:rPr>
              <a:t>HD현대마린솔루션테크 · LTSA 유상 서비스 연계 방향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2D9"/>
                </a:solidFill>
                <a:latin typeface="Apple SD Gothic Neo"/>
              </a:rPr>
              <a:t>17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532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109728" cy="13716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Apple SD Gothic Neo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Apple SD Gothic Neo"/>
              </a:rPr>
              <a:t>AI 신뢰도 부족 시 대응?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→ PM 검토 5~15분 유지 / 신뢰도 90%↑ 도달까지 PoC 검증.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532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554480"/>
            <a:ext cx="109728" cy="13716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45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Apple SD Gothic Neo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69164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Apple SD Gothic Neo"/>
              </a:rPr>
              <a:t>HI-CMS 데이터 보안·동의?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→ 선주별 옵트인 / OEM 3사 LCA 표준 약관 동등 수준 적용.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5532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63240"/>
            <a:ext cx="109728" cy="13716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546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Apple SD Gothic Neo"/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0040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Apple SD Gothic Neo"/>
              </a:rPr>
              <a:t>구독형이 선주 부담 키울 우려?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0332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→ 하이브리드(기본료+사용량) 권고 — 저사용 선주 손해 없음.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063240"/>
            <a:ext cx="5532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063240"/>
            <a:ext cx="109728" cy="13716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1546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Apple SD Gothic Neo"/>
              </a:rPr>
              <a:t>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20040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Apple SD Gothic Neo"/>
              </a:rPr>
              <a:t>무상→유상 전환 시 선주 저항?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70332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→ 무상 그대로 유지 / 유상은 추가 가치(예측·우선)에만 한정.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72000"/>
            <a:ext cx="5532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572000"/>
            <a:ext cx="109728" cy="13716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63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Apple SD Gothic Neo"/>
              </a:rPr>
              <a:t>Q5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70916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Apple SD Gothic Neo"/>
              </a:rPr>
              <a:t>필요 인력·예산 규모?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1208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→ Phase 1 기준 AI/플랫폼 PoC 5~7명 / 신규 영업 인력 불필요.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572000"/>
            <a:ext cx="5532120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572000"/>
            <a:ext cx="109728" cy="13716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663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Apple SD Gothic Neo"/>
              </a:rPr>
              <a:t>Q6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70916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Apple SD Gothic Neo"/>
              </a:rPr>
              <a:t>OEM 3사 견제 가능성?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21208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pple SD Gothic Neo"/>
              </a:rPr>
              <a:t>→ OEM은 자기 장비만 / HMS는 HD현대 건조선 전체 통합 — 차별점.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7A00"/>
                </a:solidFill>
                <a:latin typeface="Apple SD Gothic Neo"/>
              </a:rPr>
              <a:t>FINAL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pple SD Gothic Neo"/>
              </a:rPr>
              <a:t>메일을 열던 그 손이,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7A00"/>
                </a:solidFill>
                <a:latin typeface="Apple SD Gothic Neo"/>
              </a:rPr>
              <a:t>자연스럽게 LTSA 제안을 클릭하는 순간.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14800"/>
            <a:ext cx="457200" cy="5486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ple SD Gothic Neo"/>
              </a:rPr>
              <a:t>무상 기술지원 → AI 케이스 인계 → HI-CMS 알림 → LTSA 자연 전환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BD2D9"/>
                </a:solidFill>
                <a:latin typeface="Apple SD Gothic Neo"/>
              </a:rPr>
              <a:t>2030년: LTSA 비중 50%↑  ·  매출 예측 정확도 ±5%  ·  OEM 3사와 동등한 안정 매출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ple SD Gothic Neo"/>
              </a:rPr>
              <a:t>감사합니다  ·  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7A00"/>
                </a:solidFill>
                <a:latin typeface="Apple SD Gothic Neo"/>
              </a:rPr>
              <a:t>HD현대마린솔루션테크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