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24/7 무상 기술 지원 웹사이트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선도기업처럼, 그러나 오아시스와 다르게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499248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4864" cy="18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41448"/>
            <a:ext cx="46633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발표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42616"/>
            <a:ext cx="466330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HD현대마린솔루션테크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800"/>
            <a:ext cx="4663302" cy="1078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발표자  ·  AS 사업본부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일자  ·  2026년 5월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대상  ·  내부 전략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446" y="2331720"/>
            <a:ext cx="5827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우리가 가진 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5446" y="2697480"/>
            <a:ext cx="1851096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174" y="2770632"/>
            <a:ext cx="1631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9,890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174" y="3604564"/>
            <a:ext cx="1631640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AM 솔루션 제공 선박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03702" y="2697480"/>
            <a:ext cx="1851096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3430" y="2770632"/>
            <a:ext cx="1631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3430" y="3604564"/>
            <a:ext cx="1631640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시간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스마트케어 센터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91959" y="2697480"/>
            <a:ext cx="1759656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1687" y="2770632"/>
            <a:ext cx="15402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350+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1687" y="3604564"/>
            <a:ext cx="1540200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실시간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8348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9834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기술력은 충분하다 — 부족한 것은 고객이 닿는 디지털 창구 하나다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오늘 다룰 7가지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망한 사례에서 시작해 유상 전환까지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263644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54864" cy="1965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2307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CHAPTER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23072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오아시스가 망한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34640"/>
            <a:ext cx="2307259" cy="121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강제성 없는 중개의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7963" y="2194560"/>
            <a:ext cx="263644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963" y="2194560"/>
            <a:ext cx="54864" cy="1965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2555" y="2304288"/>
            <a:ext cx="2307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CHAPTER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2555" y="2505456"/>
            <a:ext cx="23072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그럼에도 웹사이트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2555" y="2834640"/>
            <a:ext cx="2307259" cy="121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선도기업은 이미 웹으로 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2194560"/>
            <a:ext cx="263644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2194560"/>
            <a:ext cx="54864" cy="1965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1879" y="2304288"/>
            <a:ext cx="2307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CHAPTER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2505456"/>
            <a:ext cx="23072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ISS 2.0 위에 탑재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9" y="2834640"/>
            <a:ext cx="2307259" cy="121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별도 사이트가 아니다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611" y="2194560"/>
            <a:ext cx="263644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611" y="2194560"/>
            <a:ext cx="54864" cy="1965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203" y="2304288"/>
            <a:ext cx="2307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CHAPTER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203" y="2505456"/>
            <a:ext cx="23072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24/7 무상 기술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203" y="2834640"/>
            <a:ext cx="2307259" cy="121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해외지사 시간대 릴레이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263644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54864" cy="1965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453128"/>
            <a:ext cx="2307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CHAPTER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654296"/>
            <a:ext cx="23072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PM 인수인계 자동화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983480"/>
            <a:ext cx="2307259" cy="121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AI가 정리하고 PM은 클로징한다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7963" y="4343400"/>
            <a:ext cx="263644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67963" y="4343400"/>
            <a:ext cx="54864" cy="1965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2555" y="4453128"/>
            <a:ext cx="2307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CHAPTER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2555" y="4654296"/>
            <a:ext cx="23072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유상 전환 — 구독형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2555" y="4983480"/>
            <a:ext cx="2307259" cy="121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라이프사이클 계약 3티어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7287" y="4343400"/>
            <a:ext cx="263644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7287" y="4343400"/>
            <a:ext cx="54864" cy="1965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1879" y="4453128"/>
            <a:ext cx="2307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CHAPTER 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1879" y="4654296"/>
            <a:ext cx="23072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기대효과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1879" y="4983480"/>
            <a:ext cx="2307259" cy="121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정량 8가지 · 정성 3중 효과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611" y="4343400"/>
            <a:ext cx="2636443" cy="19659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06611" y="4343400"/>
            <a:ext cx="54864" cy="1965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71203" y="4453128"/>
            <a:ext cx="2307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Q&amp;A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1203" y="4654296"/>
            <a:ext cx="23072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질의응답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01 · OASIS POSTMORTEM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우리는 이미 한 번 실패했다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HD현대마린솔루션 오아시스, 무엇을 했고 왜 멈췄나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3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6101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오아시스가 가졌던 6대 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298238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24328"/>
            <a:ext cx="276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견적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53512"/>
            <a:ext cx="2762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수리업체 평점·견적 한 번에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68184" y="2514600"/>
            <a:ext cx="298238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7912" y="2624328"/>
            <a:ext cx="276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오아시스 보증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7912" y="2953512"/>
            <a:ext cx="2762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HGS 50년 무상보증 경험 기반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01568"/>
            <a:ext cx="298238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511296"/>
            <a:ext cx="276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실시간 대응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40480"/>
            <a:ext cx="2762928" cy="228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커뮤니케이션을 웹으로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68184" y="3401568"/>
            <a:ext cx="298238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7912" y="3511296"/>
            <a:ext cx="276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중개 플랫폼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7912" y="3840480"/>
            <a:ext cx="2762928" cy="228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고객사 ↔ 수리업체 매칭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88536"/>
            <a:ext cx="298238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98264"/>
            <a:ext cx="276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바우처 3~5%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27448"/>
            <a:ext cx="2762928" cy="228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건당 할인 인센티브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68184" y="4288536"/>
            <a:ext cx="298238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7912" y="4398264"/>
            <a:ext cx="276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글로벌 포트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7912" y="4727448"/>
            <a:ext cx="2762928" cy="228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해외 항구 수리 지원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9168" y="2148840"/>
            <a:ext cx="4763886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79168" y="2148840"/>
            <a:ext cx="45720" cy="3200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2048" y="2331720"/>
            <a:ext cx="44895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선주의 진짜 목소리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2048" y="2651760"/>
            <a:ext cx="448956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"수리업체 견적 비교는 좋다.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그런데 매번 로그인해서 들어가는 게 번거롭다."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"메일 한 통이면 PM이 다 처리해주는데,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굳이 웹사이트를 거쳐야 할 이유가 없다."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"우리 배 정보는 우리 회사 시스템에 있지,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중개 플랫폼에는 없다."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기능은 풍부했지만, 선주에게 "쓰지 않으면 손해인 이유"가 없었다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01 · OASIS POSTMORTEM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망한 진짜 이유 4가지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기능이 아니라 진입 동기의 문제였다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4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32907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54864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51037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REASON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51037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강제성 부재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34640"/>
            <a:ext cx="5103723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선주가 굳이 들어와야 할 이유가 없었다.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메일 한 통이면 PM이 다 처리하는데,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웹을 거쳐야 할 동기가 없다.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94560"/>
            <a:ext cx="5432907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2194560"/>
            <a:ext cx="54864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2304288"/>
            <a:ext cx="51037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REASON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4739" y="2505456"/>
            <a:ext cx="51037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중개의 한계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739" y="2834640"/>
            <a:ext cx="5103723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플랫폼이 데이터를 직접 소유하지 못했다.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선주의 호선 이력은 OEM 시스템에 있고,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중개 사이트에는 거래 기록만 남았다.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80"/>
            <a:ext cx="5432907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54864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178808"/>
            <a:ext cx="51037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REASON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79976"/>
            <a:ext cx="51037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가격 경쟁 매몰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09160"/>
            <a:ext cx="5103723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핵심 메시지가 "비교 견적·할인"으로 굳었다.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ESG·품질·신뢰의 차별 메시지가 희석되어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결국 단가 경쟁의 무대가 되었다.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0147" y="4069080"/>
            <a:ext cx="5432907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4069080"/>
            <a:ext cx="54864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4739" y="4178808"/>
            <a:ext cx="51037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REASON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4739" y="4379976"/>
            <a:ext cx="51037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운영 관성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4739" y="4709160"/>
            <a:ext cx="5103723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PM과 선주 모두 메일이 빠르고 익숙했다.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새 도구가 기존 워크플로우보다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명확히 빠르지 않으면 살아남지 못한다.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4가지 모두 "기능 부족"이 아니라 "동기 부족" — 같은 실수를 반복하지 않는다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01 · OASIS POSTMORTEM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그래서 우리가 배운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"쓸 수 있는" 사이트가 아니라 "쓰지 않으면 손해인" 사이트로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5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4659654" cy="16459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29389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과거 — 오아시스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29389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중개 비즈니스 (외부 플랫폼)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가격 비교가 핵심 가치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데이터는 거래 기록만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가입·로그인 별도 필요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강제 진입 동기 없음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45454" y="3246120"/>
            <a:ext cx="1500786" cy="0"/>
          </a:xfrm>
          <a:prstGeom prst="line">
            <a:avLst/>
          </a:prstGeom>
          <a:ln w="38100">
            <a:solidFill>
              <a:srgbClr val="1F4E7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983400" y="2423160"/>
            <a:ext cx="4659654" cy="1645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6280" y="2560320"/>
            <a:ext cx="429389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본 제안 — 24/7 무상 기술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6280" y="2880360"/>
            <a:ext cx="429389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OEM AS 비즈니스 (자사 플랫폼)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기술·이력·신뢰가 핵심 가치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호선 데이터를 직접 소유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ISS 2.0 사용자 즉시 흡수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24/7 무상 지원이 진입 미끼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기능을 더 넣는 게 아니라, 진입 동기를 다시 설계한다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02 · WHY STILL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선도기업은 이미 웹으로 이동했다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Wärtsilä Online · Kongsberg K-IMS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6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10047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54864" cy="3108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WÄRTSILÄ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핀란드 · 글로벌 OEM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39"/>
            <a:ext cx="51357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TechRequest — 웹에서 기술 지원 요청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클레임 / 워런티 등록 → 진행 추적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견적 요청 → 상태 + 문서 조회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매뉴얼 · 기술 회보 24/7 셀프서비스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호선 정보를 고객이 직접 관리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포털 내에서 엔지니어 직접 문의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2194560"/>
            <a:ext cx="5410047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2194560"/>
            <a:ext cx="54864" cy="3108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233172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KONGSBERG K-IMS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60604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노르웨이 · 글로벌 OEM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063239"/>
            <a:ext cx="51357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선박 ↔ 육상 데이터 실시간 동기화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글로벌 34개국 24/7 지원 네트워크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지원·부품 요청 단일 폼 통합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항해·운항·트림·배출 대시보드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2026 KM Performance — 레거시 통합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별도 앱 없이 브라우저로 접근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AM 시장 2024 371억 USD → 2032 532억 USD · CAGR 4.6% — 디지털 창구는 이미 표준이다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02 · WHY STILL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우리는 오아시스와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중개사가 아니라 OEM AS사이고, 데이터가 우리에게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7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996994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45634" y="2240280"/>
            <a:ext cx="454871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94344" y="2240280"/>
            <a:ext cx="454871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172267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794" y="2240280"/>
            <a:ext cx="427439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오아시스 (과거)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1504" y="2240280"/>
            <a:ext cx="427439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본 제안 (현재)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24328"/>
            <a:ext cx="11094415" cy="5029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24328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17226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794" y="2624328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외부 플랫폼 (거래 기록만)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1504" y="2624328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자사 시스템 (호선·이력 전체 보유)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27248"/>
            <a:ext cx="1109441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27248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27248"/>
            <a:ext cx="17226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진입 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2794" y="3127248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별도 가입·로그인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1504" y="3127248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ISS 2.0 사용자 그대로 흡수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30168"/>
            <a:ext cx="11094415" cy="5029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630168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30168"/>
            <a:ext cx="17226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핵심 가치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2794" y="3630168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가격 비교 · 견적 할인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1504" y="3630168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기술·이력·신뢰 · OEM 정통성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33087"/>
            <a:ext cx="1109441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133087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33087"/>
            <a:ext cx="17226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강제성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2794" y="4133087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없음 — 안 써도 그만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1504" y="4133087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24/7 무상 기술 지원이 미끼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36007"/>
            <a:ext cx="11094415" cy="5029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636007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636007"/>
            <a:ext cx="17226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수익 모델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2794" y="4636007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중개 수수료 (단발)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1504" y="4636007"/>
            <a:ext cx="42743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구독형 LTSA (반복 매출)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우리가 가진 것은 9,890척의 데이터다 — 오아시스는 가질 수 없었던 자산이다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02 · WHY STILL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Gap의 본질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기술력이 아니라 디지털 창구다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8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2705023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13432"/>
            <a:ext cx="2485567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9,890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60750"/>
            <a:ext cx="2485567" cy="526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AM 솔루션 제공 (2024 3Q)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5103" y="2240280"/>
            <a:ext cx="2705023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4831" y="2313432"/>
            <a:ext cx="2485567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831" y="3260750"/>
            <a:ext cx="2485567" cy="526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시간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부산 스마트케어 센터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567" y="2240280"/>
            <a:ext cx="2705023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1295" y="2313432"/>
            <a:ext cx="2485567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350+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1295" y="3260750"/>
            <a:ext cx="2485567" cy="526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실시간 모니터링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8031" y="2240280"/>
            <a:ext cx="2705023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7759" y="2313432"/>
            <a:ext cx="2485567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5.3%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7759" y="3260750"/>
            <a:ext cx="2485567" cy="526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연료 절감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OceanWise AI 항로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우리에게 부족한 단 한 가지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11094415" cy="1280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526280"/>
            <a:ext cx="1054577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"부족한 것은 기술이 아니다.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고객이 우리에게 닿는 길 — 디지털 창구 하나다."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03 · ON ISS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별도 사이트를 만들지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ISS 2.0 위에 얹어 진입장벽을 0으로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9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9924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기존 — ISS 2.0 (Integrated Smart Ship)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4992486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24328"/>
            <a:ext cx="47181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① 데이터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98648"/>
            <a:ext cx="47181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엔진·주요기기 실시간 센서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4992486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93008"/>
            <a:ext cx="47181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② 분석·관제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67328"/>
            <a:ext cx="47181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디지털 관제센터 + 부산 스마트케어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4992486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361688"/>
            <a:ext cx="47181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③ 리포트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636008"/>
            <a:ext cx="47181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분기별 선주 제공 분석 리포트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86846" y="3611880"/>
            <a:ext cx="274320" cy="0"/>
          </a:xfrm>
          <a:prstGeom prst="line">
            <a:avLst/>
          </a:prstGeom>
          <a:ln w="38100">
            <a:solidFill>
              <a:srgbClr val="1F4E7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06886" y="2148840"/>
            <a:ext cx="5736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추가 — 24/7 무상 기술 지원 모듈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06886" y="2514600"/>
            <a:ext cx="5736168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478" y="2624328"/>
            <a:ext cx="5461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④ 지원 요청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478" y="2898648"/>
            <a:ext cx="5461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1-click 영상 세션 시작 — Lv.1~3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06886" y="3383280"/>
            <a:ext cx="5736168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1478" y="3493008"/>
            <a:ext cx="5461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⑤ AI 정리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478" y="3767328"/>
            <a:ext cx="5461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세션 → Work Scope → PM 카드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06886" y="4251960"/>
            <a:ext cx="5736168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478" y="4361688"/>
            <a:ext cx="5461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⑥ 이력 적층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478" y="4636008"/>
            <a:ext cx="5461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CBM 데이터와 통합되어 자동 축적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ISS 2.0 사용 선사는 추가 가입 없이 — 켜기만 하면 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03 · ON ISS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왜 ISS 2.0 위에 얹는가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이미 있는 데이터·로그인·고객을 그대로 활용한다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10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32907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54864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51037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WHY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51037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기존 사용 선사 즉시 흡수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34640"/>
            <a:ext cx="5103723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ISS 2.0을 쓰는 선사는 이미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로그인·인증·계약이 정리되어 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새 가입 동의 없이 모듈만 켜면 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94560"/>
            <a:ext cx="5432907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2194560"/>
            <a:ext cx="54864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2304288"/>
            <a:ext cx="51037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WHY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4739" y="2505456"/>
            <a:ext cx="51037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호선·점검 데이터 이미 존재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739" y="2834640"/>
            <a:ext cx="5103723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엔진·기기 센서 데이터, 점검 이력,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부품 정보가 ISS 2.0에 축적되어 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빈 사이트를 채울 필요가 없다.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80"/>
            <a:ext cx="5432907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54864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178808"/>
            <a:ext cx="51037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WHY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79976"/>
            <a:ext cx="51037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별도 가입·로그인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09160"/>
            <a:ext cx="5103723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오아시스가 부담스러웠던 이유 1순위.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선주는 평소 보던 화면에서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"지원 요청" 버튼만 누르면 된다.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0147" y="4069080"/>
            <a:ext cx="5432907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4069080"/>
            <a:ext cx="54864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4739" y="4178808"/>
            <a:ext cx="51037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WHY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4739" y="4379976"/>
            <a:ext cx="51037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CBM ↔ 지원 세션 자동 연결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4739" y="4709160"/>
            <a:ext cx="5103723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알람 발생 화면에서 그대로 세션을 열고,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조치 내역이 다시 ISS 2.0 이력에 쌓인다.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맥락이 끊기지 않는다.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새 사이트를 짓지 않고 — ISS 2.0이라는 기존 입구를 그대로 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03 · ON ISS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ISS 2.0 × 기술 지원의 시너지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고장 알람 → 즉시 원격 세션 → 기록 자동 축적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11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926275" cy="2103120"/>
          </a:xfrm>
          <a:prstGeom prst="rect">
            <a:avLst/>
          </a:prstGeom>
          <a:solidFill>
            <a:srgbClr val="1F4E7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39"/>
            <a:ext cx="16519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알람 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39"/>
            <a:ext cx="16519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ISS 2.0 센서가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이상치 검출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635" y="3474720"/>
            <a:ext cx="274320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40675" y="2423160"/>
            <a:ext cx="1926275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7835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7835" y="3063239"/>
            <a:ext cx="16519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1-click 요청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7835" y="3520439"/>
            <a:ext cx="16519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알람 화면에서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바로 세션 시작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2670" y="3474720"/>
            <a:ext cx="274320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32710" y="2423160"/>
            <a:ext cx="1926275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9870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9870" y="3063239"/>
            <a:ext cx="16519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원격 세션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9870" y="3520439"/>
            <a:ext cx="16519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영상·화면공유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Lv.1~3 대응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705" y="3474720"/>
            <a:ext cx="274320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424745" y="2423160"/>
            <a:ext cx="1926275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1905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1905" y="3063239"/>
            <a:ext cx="16519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조치 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1905" y="3520439"/>
            <a:ext cx="16519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AI가 자동 요약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+ 스크린샷 보존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96740" y="3474720"/>
            <a:ext cx="274320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716780" y="2423160"/>
            <a:ext cx="1926275" cy="2103120"/>
          </a:xfrm>
          <a:prstGeom prst="rect">
            <a:avLst/>
          </a:prstGeom>
          <a:solidFill>
            <a:srgbClr val="1F4E7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3940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3940" y="3063239"/>
            <a:ext cx="16519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CBM 적층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3940" y="3520439"/>
            <a:ext cx="16519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ISS 2.0 이력에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자동 저장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선주는 이미 보고 있는 화면에서 도움을 받는다 — 새 사이트로 옮기지 않는다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04 · 24/7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해외지사를 시간대로 묶는다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부산 ↔ 싱가포르 ↔ 유럽, 24시간 릴레이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357621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3576218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30189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KST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88920"/>
            <a:ext cx="32470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부산 본사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00400"/>
            <a:ext cx="324703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00:00 — 08:00 KST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야간/새벽 당직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794760"/>
            <a:ext cx="32470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커버 지역  ·  아시아 동부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7738" y="2240280"/>
            <a:ext cx="357621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7738" y="2240280"/>
            <a:ext cx="3576218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4898" y="2240280"/>
            <a:ext cx="330189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SGT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330" y="2788920"/>
            <a:ext cx="32470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싱가포르 지사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2330" y="3200400"/>
            <a:ext cx="324703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08:00 — 16:00 KST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주간 당직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2330" y="3794760"/>
            <a:ext cx="32470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커버 지역  ·  동남아·중동·인도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6836" y="2240280"/>
            <a:ext cx="357621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6836" y="2240280"/>
            <a:ext cx="3576218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3996" y="2240280"/>
            <a:ext cx="330189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CET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1428" y="2788920"/>
            <a:ext cx="32470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유럽 지사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1428" y="3200400"/>
            <a:ext cx="324703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16:00 — 24:00 KST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저녁 당직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1428" y="3794760"/>
            <a:ext cx="32470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커버 지역  ·  유럽·아프리카·미주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26280"/>
            <a:ext cx="11094415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526280"/>
            <a:ext cx="4572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177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응답 SLA (Service Level Agreement)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92040"/>
            <a:ext cx="5547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일반 요청  ·  4시간 이내 세션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0568" y="4892040"/>
            <a:ext cx="49924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rFonts eastAsia="맑은 고딕" ascii="맑은 고딕" hAnsi="맑은 고딕"/>
              </a:rPr>
              <a:t>긴급 요청  ·  1시간 이내 세션 시작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선박이 어디 있든, 한국 시간 무관하게 — 4시간 또는 1시간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04 · 24/7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3단계 대응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내일 시작, 12개월 후 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13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57621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59152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51760"/>
            <a:ext cx="32470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전화 · 영상통화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63239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즉시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37560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추가 투자  ·  ₩0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703320"/>
            <a:ext cx="3247034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94760"/>
            <a:ext cx="324703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스마트폰 + Teams/WhatsApp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선원이 촬영 → 엔지니어 가이드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간단 문의·스위치 조작·알람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37760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37760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녹화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84648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84648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AR 마킹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31536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31536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핸즈프리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7738" y="2194560"/>
            <a:ext cx="3576218" cy="3657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2330" y="2359152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LEVEL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330" y="2651760"/>
            <a:ext cx="32470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화상 · 화면공유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2330" y="3063239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3~6개월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2330" y="3337560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플랫폼 라이선스  ·  낮음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72330" y="3703320"/>
            <a:ext cx="3247034" cy="45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2330" y="3794760"/>
            <a:ext cx="324703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VSight / Teams Remote Assist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화면 캡처·녹화·파일 전송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중간 난이도 트러블슈팅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2330" y="4937760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1786" y="4937760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녹화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2330" y="5184648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1786" y="5184648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AR 마킹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2330" y="5431536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1786" y="5431536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핸즈프리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6836" y="2194560"/>
            <a:ext cx="357621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1428" y="2359152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LEVEL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1428" y="2651760"/>
            <a:ext cx="32470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AR 원격 가이드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1428" y="3063239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12개월~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1428" y="3337560"/>
            <a:ext cx="32470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AR 기기 + 플랫폼  ·  중간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31428" y="3703320"/>
            <a:ext cx="3247034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1428" y="3794760"/>
            <a:ext cx="324703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RealWear · HoloLens · 태블릿 AR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시야에 화살표·텍스트 오버레이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복잡한 수리·부품 교체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1428" y="4937760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0884" y="4937760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녹화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1428" y="5184648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0884" y="5184648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AR 마킹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1428" y="5431536"/>
            <a:ext cx="228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0884" y="5431536"/>
            <a:ext cx="311901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핸즈프리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Lv.1은 추가 투자 없이 내일 시작 — Lv.2·3은 단계적 확장의 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04 · 24/7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Wärtsilä는 95%를 원격으로 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우리도 스마트폰 하나면 시작한다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14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4659654" cy="3108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41110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WÄRTSILÄ SMART SUPPORT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26080"/>
            <a:ext cx="4111014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343400"/>
            <a:ext cx="41110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오류를 원격으로 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800600"/>
            <a:ext cx="41110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"다음 항구에서 엔지니어를 부를 필요가 없다"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2614" y="2240280"/>
            <a:ext cx="3011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9774" y="2350008"/>
            <a:ext cx="273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AR 정비 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9774" y="2624328"/>
            <a:ext cx="273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47%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9774" y="3154680"/>
            <a:ext cx="273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AR 가이드 시 수리 속도 향상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(종이 매뉴얼 대비)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31414" y="2240280"/>
            <a:ext cx="3011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8574" y="2350008"/>
            <a:ext cx="273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작업 오류율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8574" y="2624328"/>
            <a:ext cx="273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13%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8574" y="3154680"/>
            <a:ext cx="273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AR 사용 시 오류율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(종이 매뉴얼 53% 대비)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2614" y="3840480"/>
            <a:ext cx="3011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9774" y="3950208"/>
            <a:ext cx="273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미·캐 해군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9774" y="4224528"/>
            <a:ext cx="273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실전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9774" y="4754880"/>
            <a:ext cx="273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ARMS · MIRRAS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실전 배치 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31414" y="3840480"/>
            <a:ext cx="3011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8574" y="3950208"/>
            <a:ext cx="273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Kongsberg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8574" y="4224528"/>
            <a:ext cx="273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PKI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8574" y="4754880"/>
            <a:ext cx="273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Remote Diagnostics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첫 시도 해결 원칙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미래 기술이 아니다 — 이미 작동 중인 현재 기술이다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04 · 24/7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무상으로 푸는 진짜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무료가 아니라 진입 미끼다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15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39" y="2331720"/>
            <a:ext cx="11094415" cy="640080"/>
          </a:xfrm>
          <a:prstGeom prst="rect">
            <a:avLst/>
          </a:prstGeom>
          <a:solidFill>
            <a:srgbClr val="9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331720"/>
            <a:ext cx="199699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23" y="2331720"/>
            <a:ext cx="35502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무상 24/7 접근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7735" y="2331720"/>
            <a:ext cx="510343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진입장벽 없음 → 선주가 일단 들어온다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721" y="3081527"/>
            <a:ext cx="9430252" cy="640080"/>
          </a:xfrm>
          <a:prstGeom prst="rect">
            <a:avLst/>
          </a:prstGeom>
          <a:solidFill>
            <a:srgbClr val="5C8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3601" y="3081527"/>
            <a:ext cx="169744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6771" y="3081527"/>
            <a:ext cx="3017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신뢰 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52" y="3081527"/>
            <a:ext cx="433791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실제 응답·해결 경험이 누적된다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02" y="3831335"/>
            <a:ext cx="7766090" cy="640080"/>
          </a:xfrm>
          <a:prstGeom prst="rect">
            <a:avLst/>
          </a:prstGeom>
          <a:solidFill>
            <a:srgbClr val="3A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682" y="3831335"/>
            <a:ext cx="139789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6020" y="3831335"/>
            <a:ext cx="248514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데이터 축적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1169" y="3831335"/>
            <a:ext cx="357240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세션·이력·CBM이 우리에게 쌓인다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4883" y="4581144"/>
            <a:ext cx="6101928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763" y="4581144"/>
            <a:ext cx="10983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5269" y="4581144"/>
            <a:ext cx="195261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유상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886" y="4581144"/>
            <a:ext cx="28068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LTSA Tier 1 → 2 → 3로 자연 이동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오아시스의 가격 비교가 아니다 — 신뢰의 거리를 좁히는 것이 핵심이다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05 · PM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지원 종료가 끝이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세션 → 카드 → PM 자동 배정까지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16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696669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39"/>
            <a:ext cx="14223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세션 종료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14223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엔지니어가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원격 세션 마감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63597" y="3566160"/>
            <a:ext cx="146304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428189" y="2423160"/>
            <a:ext cx="1696669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5349" y="256032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5349" y="3291839"/>
            <a:ext cx="14223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AI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5349" y="3749039"/>
            <a:ext cx="14223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대화·영상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자동 분석 (3초)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43146" y="3566160"/>
            <a:ext cx="146304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307738" y="2423160"/>
            <a:ext cx="1696669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4898" y="256032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4898" y="3291839"/>
            <a:ext cx="14223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Work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4898" y="3749039"/>
            <a:ext cx="14223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일정·인원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견적 자동 추출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2695" y="3566160"/>
            <a:ext cx="146304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87287" y="2423160"/>
            <a:ext cx="1696669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447" y="256032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3291839"/>
            <a:ext cx="14223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건별 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3749039"/>
            <a:ext cx="14223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카드 생성 +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타임라인 기록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2244" y="3566160"/>
            <a:ext cx="146304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066836" y="2423160"/>
            <a:ext cx="1696669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3996" y="256032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3996" y="3291839"/>
            <a:ext cx="14223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PM 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3996" y="3749039"/>
            <a:ext cx="14223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담당 PM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자동 매칭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81794" y="3566160"/>
            <a:ext cx="146304" cy="0"/>
          </a:xfrm>
          <a:prstGeom prst="line">
            <a:avLst/>
          </a:prstGeom>
          <a:ln w="25400">
            <a:solidFill>
              <a:srgbClr val="5C8FB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946386" y="2423160"/>
            <a:ext cx="1696669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3546" y="256032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3546" y="3291839"/>
            <a:ext cx="14223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알림 발송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3546" y="3749039"/>
            <a:ext cx="14223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메일·웹·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메신저 동시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PM은 정리하지 않는다 — 정리된 카드를 받아 클로징만 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05 · PM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AI가 정리하는 5가지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PM이 메일을 다시 읽지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17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576218" cy="189737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54864" cy="189737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33018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AI ·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78608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메일·세션 자동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35808"/>
            <a:ext cx="330189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수신 메일과 영상 세션 텍스트를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3초 이내 파싱하여 핵심 항목을 추출한다.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680459"/>
            <a:ext cx="3247034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44468"/>
            <a:ext cx="3301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응답 시간  ·  3초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7738" y="2194560"/>
            <a:ext cx="3576218" cy="189737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7738" y="2194560"/>
            <a:ext cx="54864" cy="189737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2330" y="2304288"/>
            <a:ext cx="33018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AI ·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2330" y="2578608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건별 카드 자동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2330" y="3035808"/>
            <a:ext cx="330189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분석 결과로 작업 카드를 만들고,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타임라인에 자동 등록한다.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72330" y="3680459"/>
            <a:ext cx="3247034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2330" y="3744468"/>
            <a:ext cx="3301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입력 작업  ·  0건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6836" y="2194560"/>
            <a:ext cx="3576218" cy="189737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6836" y="2194560"/>
            <a:ext cx="54864" cy="189737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1428" y="2304288"/>
            <a:ext cx="33018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AI ·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1428" y="2578608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협력업체·러프 견적 매칭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1428" y="3035808"/>
            <a:ext cx="330189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과거 이력 기반으로 적합 업체를 추천하고,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초안 견적가를 산출한다.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1428" y="3680459"/>
            <a:ext cx="3247034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1428" y="3744468"/>
            <a:ext cx="3301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견적 회신  ·  당일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29100"/>
            <a:ext cx="3576218" cy="189737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229100"/>
            <a:ext cx="54864" cy="189737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338828"/>
            <a:ext cx="33018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AI ·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613148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수기발주서 자동 드래프트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070348"/>
            <a:ext cx="330189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긴급공사 + PO 미확인 상황을 감지해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수기발주서 초안과 알림을 발송한다.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714999"/>
            <a:ext cx="3247034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779007"/>
            <a:ext cx="3301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하도급법  ·  자동 대응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87287" y="4229100"/>
            <a:ext cx="3576218" cy="189737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7287" y="4229100"/>
            <a:ext cx="54864" cy="189737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1879" y="4338828"/>
            <a:ext cx="33018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AI ·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1879" y="4613148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PM 변경 시 인수인계 문서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1879" y="5070348"/>
            <a:ext cx="330189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담당 건 전체를 AI가 요약 문서화하여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새 PM이 30분 내 파악하도록 한다.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1879" y="5714999"/>
            <a:ext cx="3247034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1879" y="5779007"/>
            <a:ext cx="3301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인수인계  ·  30분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05 · PM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Before ·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메일 포워딩 1~2주 → AI 요약 30분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18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996994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45634" y="2240280"/>
            <a:ext cx="4992486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38121" y="2240280"/>
            <a:ext cx="4104933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172267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794" y="2240280"/>
            <a:ext cx="471816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5281" y="2240280"/>
            <a:ext cx="383061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11094415" cy="5669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51760"/>
            <a:ext cx="172267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인수인계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794" y="2651760"/>
            <a:ext cx="471816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메일 포워딩 → 사람이 읽고 정리 (1~2주)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5281" y="2651760"/>
            <a:ext cx="38306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AI 요약 카드 (30분)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18688"/>
            <a:ext cx="1109441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18688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18688"/>
            <a:ext cx="172267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견적 회신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2794" y="3218688"/>
            <a:ext cx="471816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담당자 메모리·과거 메일 검색 (2~3일)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5281" y="3218688"/>
            <a:ext cx="38306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AI 러프 견적 + 즉시 검토 (당일)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85616"/>
            <a:ext cx="11094415" cy="5669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785616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85616"/>
            <a:ext cx="172267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진행 추적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2794" y="3785616"/>
            <a:ext cx="471816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전화/메일로 PM에게 문의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5281" y="3785616"/>
            <a:ext cx="38306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웹에서 단계별 실시간 표시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52544"/>
            <a:ext cx="1109441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52544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52544"/>
            <a:ext cx="172267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노하우 보존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2794" y="4352544"/>
            <a:ext cx="471816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PM 머리·개인 메일함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5281" y="4352544"/>
            <a:ext cx="38306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세션 녹화·카드·DB로 영구 축적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19472"/>
            <a:ext cx="11094415" cy="5669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919472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19472"/>
            <a:ext cx="172267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하도급법 리스크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2794" y="4919472"/>
            <a:ext cx="471816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PM 기억에 의존, 누락 시 수기발주서 미발행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75281" y="4919472"/>
            <a:ext cx="38306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시스템이 감지·드래프트·알림 자동 처리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PM 시간을 돌려준다 = 더 많은 건을 더 빠르게 클로징한다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06 ·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무상이 신뢰가 되면 유상이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메인은 구독형 LTSA — 건별은 보조 진입로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19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2377440"/>
            <a:ext cx="3200400" cy="6400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647" y="23774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무상 24/7 사용자 풀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322243" y="3108960"/>
            <a:ext cx="2773604" cy="548640"/>
          </a:xfrm>
          <a:prstGeom prst="line">
            <a:avLst/>
          </a:prstGeom>
          <a:ln w="38100">
            <a:solidFill>
              <a:srgbClr val="1F4E7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3108960"/>
            <a:ext cx="2773604" cy="54864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3749039"/>
            <a:ext cx="4659654" cy="2377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1"/>
            <a:ext cx="42024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PATH A — 메인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420245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구독형 LTSA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59"/>
            <a:ext cx="420245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라이프사이클 계약 3티어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59"/>
            <a:ext cx="420245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다수 선박 보유 선주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정기 AS 패턴이 있는 고객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비용 예측·우선 대응이 필요한 고객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83400" y="3749039"/>
            <a:ext cx="465965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2000" y="3913631"/>
            <a:ext cx="42024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PATH B — 보조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2000" y="4206240"/>
            <a:ext cx="420245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건별 Pay-as-you-go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2000" y="4709159"/>
            <a:ext cx="420245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비계약 고객의 진입로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2000" y="5166359"/>
            <a:ext cx="420245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단일 선박 보유 선주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비정기·돌발 수요 고객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향후 구독 전환 후보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선주가 고르는 게 아니라, 사용 패턴이 자연스럽게 안내한다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06 ·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구독형 — 라이프사이클 계약 3티어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Wärtsilä Service Value Ladder Lv.4 진입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20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57621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Basic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정기 점검 계약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20439"/>
            <a:ext cx="3210458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진입형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계약 1~2년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3210458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321045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연 1~2회 헬스체크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시각화 리포트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웹 포털 접근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점검 알림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호선 이력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7738" y="2194560"/>
            <a:ext cx="3576218" cy="3657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75196" y="2331720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5196" y="23317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RECOMMENDED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2359152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TIER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651760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20040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종합 관리 계약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0618" y="3520439"/>
            <a:ext cx="3210458" cy="45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0618" y="361188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핵심 티어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0618" y="388620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계약 2~3년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0618" y="4206240"/>
            <a:ext cx="3210458" cy="45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0618" y="4315968"/>
            <a:ext cx="321045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Tier 1 전체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무제한 기술 지원 (24h SLA)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우선 대응 + 전담 PM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부품 수명 관리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AI 분석 리포트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6836" y="2194560"/>
            <a:ext cx="357621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9716" y="2359152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TIER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9716" y="2651760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9716" y="320040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토탈 케어 계약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9716" y="3520439"/>
            <a:ext cx="3210458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9716" y="361188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최상위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9716" y="388620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계약 3~5년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9716" y="4206240"/>
            <a:ext cx="3210458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9716" y="4315968"/>
            <a:ext cx="321045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Tier 2 전체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수리 비용 정액제 포함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긴급 대응 4h SLA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원격 AR 기술 지원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정비 계획 수립 + 교육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Tier 1로 진입 → 데이터로 신뢰 → Tier 2 → 3로 자연 상승하는 구조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06 ·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건별 — Pay-as-you-go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비계약 고객도 그대로 우리 안에 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21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547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건별 과금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2705023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24328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원격 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98648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Lv.1~2 시간당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54680"/>
            <a:ext cx="2430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시간당 정액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823" y="2514600"/>
            <a:ext cx="2705023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5415" y="2624328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현장 출장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5415" y="2898648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왕복+체류+공임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5415" y="3154680"/>
            <a:ext cx="2430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실비 + 공임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38728"/>
            <a:ext cx="2705023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4845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리포트 단건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2277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시각화 분석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78808"/>
            <a:ext cx="2430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리포트당 정액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90823" y="3538728"/>
            <a:ext cx="2705023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5415" y="364845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기술 문서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5415" y="392277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도면·매뉴얼 단건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5415" y="4178808"/>
            <a:ext cx="2430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문서당 소액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14884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구독 전환 트리거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0167" y="2514600"/>
            <a:ext cx="5272887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0167" y="2514600"/>
            <a:ext cx="457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047" y="2514600"/>
            <a:ext cx="21091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연 N건 이상 사용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4780" y="2514600"/>
            <a:ext cx="290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건별 누적 ₩30M 초과 → Tier 1 제안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0167" y="3108960"/>
            <a:ext cx="5272887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0167" y="3108960"/>
            <a:ext cx="457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3047" y="3108960"/>
            <a:ext cx="21091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다중 선박 운용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4780" y="3108960"/>
            <a:ext cx="290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관리 선박 5척 이상 → Tier 2 제안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0167" y="3703320"/>
            <a:ext cx="5272887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0167" y="3703320"/>
            <a:ext cx="457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3047" y="3703320"/>
            <a:ext cx="21091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긴급 수리 빈도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4780" y="3703320"/>
            <a:ext cx="290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긴급 SLA 요청 잦음 → Tier 3 제안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0167" y="4297680"/>
            <a:ext cx="5272887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0167" y="4297680"/>
            <a:ext cx="457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047" y="4297680"/>
            <a:ext cx="21091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정기 AS 패턴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4780" y="4297680"/>
            <a:ext cx="290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연 헬스체크 정기화 → Tier 1 자동 권유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건별 사용자는 떠나는 고객이 아니라 — 미래의 구독자다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06 ·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두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구조적으로 구독형이 우월하다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2440771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89411" y="2240280"/>
            <a:ext cx="4326821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6233" y="2240280"/>
            <a:ext cx="4326821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216645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평가 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6571" y="2240280"/>
            <a:ext cx="405250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구독형 LTSA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3393" y="2240280"/>
            <a:ext cx="405250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건별 Pay-as-you-go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11094415" cy="4572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51760"/>
            <a:ext cx="21664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매출 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6571" y="26517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연간 계약금 확정 — 월/분기 안정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3393" y="26517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고장 발생 시점에 의존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08960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08960"/>
            <a:ext cx="21664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우선 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6571" y="31089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SLA 보증 (4~24시간)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3393" y="31089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없음 — 일반 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566160"/>
            <a:ext cx="21664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데이터 축적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6571" y="35661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연속 데이터 — 우리만 가진 자산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3393" y="35661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단편적 — 건별 분리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023360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23360"/>
            <a:ext cx="21664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마진 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6571" y="40233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패키지 프리미엄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3393" y="40233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매번 가격 비교 대상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480560"/>
            <a:ext cx="11094415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80560"/>
            <a:ext cx="21664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Lock-in 효과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6571" y="44805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계약 기간 내 이탈 없음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3393" y="4480560"/>
            <a:ext cx="405250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없음 — 다음 건 경쟁사로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0749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시뮬레이션  ·  Tier 2 ₩20M × 50척 = 연 ₩10억 반복 매출 — 고장 유무와 무관하게 들어온다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07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정량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숫자로 증명되는 8가지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23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267073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2670733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59152"/>
            <a:ext cx="23964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출장 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239641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▼50%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20439"/>
            <a:ext cx="23964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연 ₩150M 절감 (100건 시뮬)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6533" y="2194560"/>
            <a:ext cx="267073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6533" y="2194560"/>
            <a:ext cx="2670733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693" y="2359152"/>
            <a:ext cx="23964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견적 회신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693" y="2697480"/>
            <a:ext cx="239641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당일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693" y="3520439"/>
            <a:ext cx="23964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기존 2~3일 → 당일 (AI 자동 산출)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4427" y="2194560"/>
            <a:ext cx="267073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4427" y="2194560"/>
            <a:ext cx="2670733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1587" y="2359152"/>
            <a:ext cx="23964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PM 인수인계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2697480"/>
            <a:ext cx="239641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30분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1587" y="3520439"/>
            <a:ext cx="23964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기존 1~2주 → 30분 (AI 요약)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2321" y="2194560"/>
            <a:ext cx="267073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2321" y="2194560"/>
            <a:ext cx="2670733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9481" y="2359152"/>
            <a:ext cx="23964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해외 대응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9481" y="2697480"/>
            <a:ext cx="239641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수 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9481" y="3520439"/>
            <a:ext cx="23964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기존 1~2주 → 수 시간 (원격)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7679"/>
            <a:ext cx="267073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97679"/>
            <a:ext cx="2670733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62271"/>
            <a:ext cx="23964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원격 해결률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00599"/>
            <a:ext cx="239641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23559"/>
            <a:ext cx="23964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Wärtsilä Smart Support Centre 실증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56533" y="4297679"/>
            <a:ext cx="267073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56533" y="4297679"/>
            <a:ext cx="2670733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3693" y="4462271"/>
            <a:ext cx="23964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수리 속도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3693" y="4800599"/>
            <a:ext cx="239641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▲47%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3693" y="5623559"/>
            <a:ext cx="23964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AR 가이드 시 (종이 매뉴얼 대비)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64427" y="4297679"/>
            <a:ext cx="267073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64427" y="4297679"/>
            <a:ext cx="2670733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1587" y="4462271"/>
            <a:ext cx="23964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엔지니어 처리량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1587" y="4800599"/>
            <a:ext cx="239641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×3~5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1587" y="5623559"/>
            <a:ext cx="23964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같은 인원으로 더 많은 건 처리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72321" y="4297679"/>
            <a:ext cx="2670733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72321" y="4297679"/>
            <a:ext cx="2670733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09481" y="4462271"/>
            <a:ext cx="23964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Tier 2 매출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9481" y="4800599"/>
            <a:ext cx="239641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₩10억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09481" y="5623559"/>
            <a:ext cx="23964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50척 가입 시 연간 반복 매출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07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정성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고객 · 회사 · 그룹 — 3중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57621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1190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고객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39"/>
            <a:ext cx="31190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선주의 일상이 바뀐다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49039"/>
            <a:ext cx="3119018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11901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24/7 어디서든 접근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시각화 리포트로 빠른 의사결정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비용을 미리 예측 가능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우리가 먼저 알려주는 알림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매뉴얼·도면 셀프서비스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7738" y="2194560"/>
            <a:ext cx="3576218" cy="3657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6338" y="242316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2743200"/>
            <a:ext cx="31190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회사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338" y="3291839"/>
            <a:ext cx="31190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우리의 사업 구조가 바뀐다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6338" y="3749039"/>
            <a:ext cx="3119018" cy="45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6338" y="3886200"/>
            <a:ext cx="311901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안정적 반복 매출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데이터 기반 선제 영업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PM 시간 회수 → 처리량 확대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고객 이탈 방지 (Lock-in)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데이터 자산 축적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6836" y="2194560"/>
            <a:ext cx="357621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5436" y="242316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2743200"/>
            <a:ext cx="31190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그룹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5436" y="3291839"/>
            <a:ext cx="31190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HD현대 AX 전략과 정합한다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95436" y="3749039"/>
            <a:ext cx="3119018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5436" y="3886200"/>
            <a:ext cx="311901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Hi-4S · ISS 2.0과 자연 연동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모회사 디지털 전환 가속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9,890척 자산 활용 극대화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글로벌 디지털 표준 진입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· OEM 정통성 강화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한 번 만든 디지털 창구가 — 고객 · 회사 · 그룹 세 방향으로 동시에 작동한다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CHAPTER 07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Phase 1은 내일 시작할 수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25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2636443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36212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8"/>
            <a:ext cx="236212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1~3개월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2636443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017520"/>
            <a:ext cx="23072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Lv.1 원격 지원 +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AI PM 자동화 +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시각화 리포트 템플릿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892040"/>
            <a:ext cx="2307259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029200"/>
            <a:ext cx="23072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투자 규모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303520"/>
            <a:ext cx="23072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추가 투자 ₩0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7963" y="2240280"/>
            <a:ext cx="2636443" cy="640080"/>
          </a:xfrm>
          <a:prstGeom prst="rect">
            <a:avLst/>
          </a:prstGeom>
          <a:solidFill>
            <a:srgbClr val="3A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5123" y="2240280"/>
            <a:ext cx="236212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123" y="2532888"/>
            <a:ext cx="236212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3~6개월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963" y="2880360"/>
            <a:ext cx="2636443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2555" y="3017520"/>
            <a:ext cx="23072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ISS 2.0 위 포털 MVP +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Lv.2 화상 플랫폼 +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Tier 1 파일럿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2555" y="4892040"/>
            <a:ext cx="2307259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2555" y="5029200"/>
            <a:ext cx="23072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투자 규모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2555" y="5303520"/>
            <a:ext cx="23072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플랫폼 라이선스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287" y="2240280"/>
            <a:ext cx="2636443" cy="640080"/>
          </a:xfrm>
          <a:prstGeom prst="rect">
            <a:avLst/>
          </a:prstGeom>
          <a:solidFill>
            <a:srgbClr val="5C8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2240280"/>
            <a:ext cx="236212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2532888"/>
            <a:ext cx="236212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6~12개월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7287" y="2880360"/>
            <a:ext cx="2636443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1879" y="3017520"/>
            <a:ext cx="23072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대시보드 + 문서 라이브러리 +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알림 시스템 +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Tier 1 → Tier 2 확대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1879" y="4892040"/>
            <a:ext cx="2307259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1879" y="5029200"/>
            <a:ext cx="23072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투자 규모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1879" y="5303520"/>
            <a:ext cx="23072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중간 규모 투자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611" y="2240280"/>
            <a:ext cx="2636443" cy="640080"/>
          </a:xfrm>
          <a:prstGeom prst="rect">
            <a:avLst/>
          </a:prstGeom>
          <a:solidFill>
            <a:srgbClr val="9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3771" y="2240280"/>
            <a:ext cx="236212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PHASE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771" y="2532888"/>
            <a:ext cx="236212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12개월~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611" y="2880360"/>
            <a:ext cx="2636443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203" y="3017520"/>
            <a:ext cx="23072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Lv.3 AR 가이드 +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Tier 2 → Tier 3 +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그룹 Hi-4S 연동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71203" y="4892040"/>
            <a:ext cx="2307259" cy="45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203" y="5029200"/>
            <a:ext cx="23072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투자 규모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203" y="5303520"/>
            <a:ext cx="23072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그룹 협의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94360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943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Phase 1은 추가 투자 없이 — 의사결정만 있으면 시작된다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한 문장으로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우리는 오아시스를 다시 짓는 것이 아니다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26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94415" cy="2743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180015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오아시스는 중개를 팔다가 멈췄다.</a:t>
            </a:r>
          </a:p>
          <a:p>
            <a:pPr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/>
            </a:r>
          </a:p>
          <a:p>
            <a:pPr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우리는 24/7 무상 기술 지원으로 신뢰를 만든다.</a:t>
            </a:r>
          </a:p>
          <a:p>
            <a:pPr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그 신뢰는 라이프사이클 계약이 된다.</a:t>
            </a:r>
          </a:p>
          <a:p>
            <a:pPr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그 계약은 우리만의 데이터로 쌓인다.</a:t>
            </a:r>
          </a:p>
          <a:p>
            <a:pPr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/>
            </a:r>
          </a:p>
          <a:p>
            <a:pPr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이것이 OEM AS사가 가야 할 길이다.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12080"/>
            <a:ext cx="360669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4426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9,890척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3453" y="5212080"/>
            <a:ext cx="1983684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AS 네트워크가 곧 진입로다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2498" y="5212080"/>
            <a:ext cx="360669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5212080"/>
            <a:ext cx="14426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7311" y="5212080"/>
            <a:ext cx="1983684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시간이 곧 신뢰다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6356" y="5212080"/>
            <a:ext cx="360669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9236" y="5212080"/>
            <a:ext cx="14426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ISS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1170" y="5212080"/>
            <a:ext cx="1983684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데이터가 곧 자산이다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827"/>
                </a:solidFill>
                <a:latin typeface="맑은 고딕"/>
                <a:rFonts eastAsia="맑은 고딕" ascii="맑은 고딕" hAnsi="맑은 고딕"/>
              </a:rPr>
              <a:t>질문 환영합니다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맑은 고딕"/>
                <a:rFonts eastAsia="맑은 고딕" ascii="맑은 고딕" hAnsi="맑은 고딕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66566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24/7 무상 기술 지원 웹사이트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289" y="6446520"/>
            <a:ext cx="44377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맑은 고딕"/>
                <a:rFonts eastAsia="맑은 고딕" ascii="맑은 고딕" hAnsi="맑은 고딕"/>
              </a:rPr>
              <a:t>27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4992486" cy="3703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4443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PRESENTER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3200"/>
            <a:ext cx="44438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HD현대마린솔루션테크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46120"/>
            <a:ext cx="444384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AS 사업본부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749039"/>
            <a:ext cx="4443846" cy="45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86200"/>
            <a:ext cx="4443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문의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160520"/>
            <a:ext cx="4443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내선 / 이메일 / 사내 메신저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4443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후속 액션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46320"/>
            <a:ext cx="44438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Phase 1 의사결정 회의 (1주 내)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Lv.1 원격 지원 파일럿 셋업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· Tier 1 후보 선주 3곳 선정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446" y="2194560"/>
            <a:ext cx="5827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참고 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5446" y="2560320"/>
            <a:ext cx="5827608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15446" y="2560320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326" y="2560320"/>
            <a:ext cx="1748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AM 벤치마킹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281" y="2560320"/>
            <a:ext cx="378794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선도기업 AM 전략 벤치마킹 보고서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5446" y="3090672"/>
            <a:ext cx="5827608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5446" y="3090672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8326" y="3090672"/>
            <a:ext cx="1748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원격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281" y="3090672"/>
            <a:ext cx="378794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원격 기술 지원 — 24/7 전문가 대기 체계 제안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5446" y="3621024"/>
            <a:ext cx="5827608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15446" y="3621024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326" y="3621024"/>
            <a:ext cx="1748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웹사이트 구축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281" y="3621024"/>
            <a:ext cx="378794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24/7 무상 기술지원 웹사이트 구축 제안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5446" y="4151375"/>
            <a:ext cx="5827608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15446" y="4151375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326" y="4151375"/>
            <a:ext cx="1748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LTSA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281" y="4151375"/>
            <a:ext cx="378794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라이프사이클 계약 도입 제안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15446" y="4681727"/>
            <a:ext cx="5827608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15446" y="4681727"/>
            <a:ext cx="45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326" y="4681727"/>
            <a:ext cx="1748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맑은 고딕"/>
                <a:rFonts eastAsia="맑은 고딕" ascii="맑은 고딕" hAnsi="맑은 고딕"/>
              </a:rPr>
              <a:t>웹포털 설계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281" y="4681727"/>
            <a:ext cx="378794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74151"/>
                </a:solidFill>
                <a:latin typeface="맑은 고딕"/>
                <a:rFonts eastAsia="맑은 고딕" ascii="맑은 고딕" hAnsi="맑은 고딕"/>
              </a:rPr>
              <a:t>웹 포털 상세 설계 + 격차 해소 방안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15446" y="5349240"/>
            <a:ext cx="5827608" cy="5029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326" y="5349240"/>
            <a:ext cx="55532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rFonts eastAsia="맑은 고딕" ascii="맑은 고딕" hAnsi="맑은 고딕"/>
              </a:rPr>
              <a:t>시작은 의사결정 한 번으로 충분합니다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